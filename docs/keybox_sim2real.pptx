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8" r:id="rId29"/>
    <p:sldId id="284" r:id="rId30"/>
    <p:sldId id="286" r:id="rId31"/>
    <p:sldId id="287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8e757ff-03b6-d32a-6c00-a0b32898408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Motion" id="{1ebd8843-be06-c837-9a40-d10f3f9d93ef}">
          <p14:sldIdLst>
            <p14:sldId id="263"/>
            <p14:sldId id="264"/>
            <p14:sldId id="266"/>
            <p14:sldId id="267"/>
          </p14:sldIdLst>
        </p14:section>
        <p14:section name="Perception" id="{007c6e29-7e00-d4fb-37b5-f5bc607feac7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hysics" id="{b46c51e7-c222-488c-19b0-180072929aef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Results" id="{9b3278b6-c504-5e0c-9423-8848f64bafe7}">
          <p14:sldIdLst>
            <p14:sldId id="282"/>
            <p14:sldId id="288"/>
            <p14:sldId id="284"/>
            <p14:sldId id="286"/>
            <p14:sldId id="28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D2125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1D2125"/>
                </a:solidFill>
                <a:latin typeface="+mn-lt"/>
              </a:rPr>
              <a:t>Scenes reachable (of 100)</a:t>
            </a:r>
            <a:endParaRPr sz="1400" b="0" i="0" u="none" strike="noStrike">
              <a:solidFill>
                <a:srgbClr val="1D2125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scenes feasible (of 100)</c:v>
                </c:pt>
              </c:strCache>
            </c:strRef>
          </c:tx>
          <c:spPr>
            <a:solidFill>
              <a:srgbClr val="B547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547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47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7D6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D2125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left arm insert + turn</c:v>
                </c:pt>
                <c:pt idx="1">
                  <c:v>old real4 setup</c:v>
                </c:pt>
                <c:pt idx="2">
                  <c:v>new setup, right arm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65</c:v>
                </c:pt>
                <c:pt idx="2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77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77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D2125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1D2125"/>
                </a:solidFill>
                <a:latin typeface="+mn-lt"/>
              </a:rPr>
              <a:t>Real right arm: median TCP error (mm)</a:t>
            </a:r>
            <a:endParaRPr sz="1400" b="0" i="0" u="none" strike="noStrike">
              <a:solidFill>
                <a:srgbClr val="1D2125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TCP error (mm)</c:v>
                </c:pt>
              </c:strCache>
            </c:strRef>
          </c:tx>
          <c:spPr>
            <a:solidFill>
              <a:srgbClr val="B547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547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7D6D"/>
              </a:solidFill>
              <a:effectLst/>
            </c:spPr>
          </c:dPt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D2125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old gravity model</c:v>
                </c:pt>
                <c:pt idx="1">
                  <c:v>fitted gravity</c:v>
                </c:pt>
                <c:pt idx="2">
                  <c:v>+ feed-forward (runner)</c:v>
                </c:pt>
                <c:pt idx="3">
                  <c:v>stiff PI</c:v>
                </c:pt>
                <c:pt idx="4">
                  <c:v>PI + friction ff</c:v>
                </c:pt>
                <c:pt idx="5">
                  <c:v>chosen: springs + I + friction + gravity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22.1</c:v>
                </c:pt>
                <c:pt idx="1">
                  <c:v>4.7</c:v>
                </c:pt>
                <c:pt idx="2">
                  <c:v>2.7</c:v>
                </c:pt>
                <c:pt idx="3">
                  <c:v>0.84</c:v>
                </c:pt>
                <c:pt idx="4">
                  <c:v>0.23</c:v>
                </c:pt>
                <c:pt idx="5">
                  <c:v>0.43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77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77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D2125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1D2125"/>
                </a:solidFill>
                <a:latin typeface="+mn-lt"/>
              </a:rPr>
              <a:t>Mat roughness (mm), 30 frames</a:t>
            </a:r>
            <a:endParaRPr sz="1400" b="0" i="0" u="none" strike="noStrike">
              <a:solidFill>
                <a:srgbClr val="1D2125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 roughness (mm)</c:v>
                </c:pt>
              </c:strCache>
            </c:strRef>
          </c:tx>
          <c:spPr>
            <a:solidFill>
              <a:srgbClr val="B547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547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7D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D2125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SDK Performance</c:v>
                </c:pt>
                <c:pt idx="1">
                  <c:v>SDK Neural (chosen)</c:v>
                </c:pt>
                <c:pt idx="2">
                  <c:v>FoundationStereo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0.63</c:v>
                </c:pt>
                <c:pt idx="2">
                  <c:v>0.49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77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6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77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D2125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1D2125"/>
                </a:solidFill>
                <a:latin typeface="+mn-lt"/>
              </a:rPr>
              <a:t>Time per frame (ms)</a:t>
            </a:r>
            <a:endParaRPr sz="1400" b="0" i="0" u="none" strike="noStrike">
              <a:solidFill>
                <a:srgbClr val="1D2125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per frame</c:v>
                </c:pt>
              </c:strCache>
            </c:strRef>
          </c:tx>
          <c:spPr>
            <a:solidFill>
              <a:srgbClr val="2F7D6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7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D2125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SDK Neural (chosen)</c:v>
                </c:pt>
                <c:pt idx="1">
                  <c:v>FoundationStereo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5.7</c:v>
                </c:pt>
                <c:pt idx="1">
                  <c:v>185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77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77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frames: left, the real YAM cell after run_020911 (graph fix9): the lid is up. Right, the current MuJoCo twin after the privileged scripted solver.
The story: three things had to match between sim and real before a sim-trained graph could open the real box: motion (how the arm reaches and lands), perception (what the cameras really give) and physics (how the key, lock, tab and box behave).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are from the self-learning / GaP pipeline in simulation; 'final' = held-out test seeds, 'dev' = development seeds.
Latched toolbox 500/500 final; tool hanging 500/500 final; peg insertion 500/500 final (best attempt); wrench hanging (vision) 500/500 final; coffee machine (vision) 493/500 final; YAM scissor-hook hanging 200/200 dev; Siemens organizer on the YAM twin 98.8% final; bike rotor (easy) 98.2% final.
The key box is the challenge: a precise insertion, a quarter turn and a hidden release tab, on a real YAM arm that has no force sensing.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user's own phone clip (IMG_3520). The aluminium box is 254 × 174 mm. A key lies on the mat; the hand picks it up, inserts it, turns it a quarter turn, then presses the release tab inside the recess beside the lock; a torsion spring lifts the 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user's two recordings of the real YAM opening the box (successful_rollout_1_keybox.mp4, 40.3 s; successful_rollout_2_keybox.mp4, 48.5 s), shown at full length; the speed-ups are burned into the videos (6x, 12x, 16x, normal speed at the press).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(1) No demonstrations at the start: the strategy had to be found by agents in sim; the user recorded 4 teleop demos only later.
(2) Precision: the keyway catches the key only within 1.8 mm and 6°, while the real YAM arm landed 2-10 mm off before the controller work (now 0.43 mm median).
(3) Reachability: lock face, key and box sit near the arm's joint limits; the left arm could never insert and turn (0/100 scenes); the turn needs ~92° of wrist rotation and runs into joint 4's limit.
(4) No force sensor: the robot cannot feel the key stuck at a pin, slipping in its fingers, or the tab's stiff point; it infers contact from cameras and joint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box came as an RSS (RoboSimStudio) model and was first ported into the calibrated YAM MuJoCo twin on 2026-10-20. A scripted privileged solver did 197/200 there, and a vision agent graph reached dev 198/200 and final 496/500. Yet 34 real runs on 21-22 Oct never reached the key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Motion: the arm could not reach many poses reliably, and where it went it landed off target (wrong gravity model, friction, gains).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Before: in the old placement the left arm could insert and turn in 0/100 sampled scenes, and the old real4 setup was feasible in only 65/100 scenes; 34 real runs never reached the turn. After: box moved to 38/28 cm forward/right, turned 12° (was 43/33 cm, 25°); the key stands in front of the right arm, which picks, inserts, turns and presses; the left arm parks as an observer: 100/100 scenes feasible (worst/median joint margin 31/40°), no riser hits, left-arm gravity load 10.5 vs 13.5 Nm. Turn direction: the twin turned +, the real lock turns −; with the 18°-pitched grasp the hand reaches only ~80° before joint 4's limit, so the real graph turns −92° with a regrip-roll (first real insert + turn: run_004108).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TCP error on the real right arm, one fix at a time: old i2rt gravity model 22.1 mm; fitted gravity 4.7 mm; runner feed-forward 2.7 mm; stiff PI 0.84 mm; PI + friction feed-forward 0.23 mm; chosen: normal springs + integral + friction ff + fitted gravity 0.43 mm (p90 0.83 mm, no vibration; the 0.23 mm option was much stiffer). Elbow static friction measured 1.1-1.2 Nm. Gravity fit RMS torque error: right arm 0.94 → 0.12 Nm (sag 18.7 → 0.7 mm at the align pose), left 0.73 → 0.17 Nm (16.6 → 2.0 mm). Image (real run_123617, right wrist): green circle = the real lock; blue cross = where the twin puts it at the same joint readings; magenta = the twin with the old sag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twin now models the real controller: joint springs 80/80/80/40/10/10, a capped integral term, a landing error of 0.15-0.4° per joint, and a small sag. Images: real (left of each pair) vs sim (right) at the same joint angles, while aligning the key and while pushing it in. Rows: left wrist, right wrist, ZED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Perception: choose the depth, see where the real cameras fail, and give the sim a camera at least as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depth methods on the same 30 HD720 frames (page 12): SDK Performance / Neural Light / Neural / Neural Plus and Fast-FoundationStereo variants, shown as shaded relief of the box on its riser. SDK Neural Plus: 5.7 ms/frame, 0.63 mm mat roughness, box corner measured 89.7°. FoundationStereo is flattest (0.49 mm) but takes 185 ms per frame. SDK Performance: 3.8 mm mat noise, corner measured 80°. The runner uses the ZED SDK NEURAL depth mode; page 13 checked that the sim's ZED NEURAL depth model covers the real camera. Wrist D405s: on-camera depth (FoundationStereo would fill 100% vs 78% but costs 206 ms/frame and the right wrist is on USB 2.1).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pair: real run_020911, right wrist D405 at the lock (observation 0024, step 960): colour and the on-camera depth (colour = distance 0.11-0.49 m, black = no reading). 19% of the pixels have no depth; the holes run in streaks along the dark ribbed aluminium face and around the chrome lock. On the real D405s the dark ribbed case face also reads 8-12 mm off where it does read (pages 21/23), and the chrome lock cylinder gives holes and outliers. Right: left wrist D405 on-camera depth vs Fast-FoundationStereo (page 14): 78% vs 100% fill, median difference 4.8 mm where both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sim's camera model (real9; real errors are the floor, sim errors set at or above them): depth noise grows with distance; holes at depth jumps and when too near; ZED depth scale off by up to ±5%; per-surface rules from how the surface looks in that episode: the shinier a surface, the worse its depth ('shine': noise ×2.6, 25% holes, 65% of bad readings far off); dark surfaces: noise ×0.8 plus 20% holes. Calibration errors about 2× the real ones: fixed cameras up to 0.6° / 4 mm, wrists up to 1.2° / 3 mm. Left: seed 0 (the real cell), ZED and a close view, and the extra depth noise given to every surface (red = more). Right: depth as the graph gets it and its error (blue 0 → red ≥ 20 mm, black = no reading).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randomization per episode (seed 0 = the real cell's look): colours of the case, bezel, label, tab, lock metal, riser, table and floor can be any colour (case mostly near neutral, large surfaces mostly muted, metal for the lock); each part's finish from flat to glossy (metal satin to mirror). Mat and backdrop: patterned surfaces (plain, speckled, grained, striped, gridded) of any colour, mixed with the real ones. Key head: any dark colour; key metal silver to brass to dark. Lights: a key light from any direction 35-90° up, strength 0.3-1.0, warm to cool (3200-6500 K), shadows in half the episodes; fill light 0-0.6; ambient 0.1-0.5. Camera: colour gain 0.93-1.07 per channel (the real D405s render a little warm), brightness ±12, exposure changing up to 6% frame to frame, sensor noise. Images: real9 seeds as the ZED sees them (page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Overlay (robot-fit) recalibration on 2026-10-21 vs the checkerboard calibration of 10-16, held-out pose 14. Twin outlines drawn on real images: finger IoU left wrist 0.62 → 0.75; ZED grippers 0.58 → 0.66; wrist-vs-wrist disagreement on the board 13.7 → 6.6 mm. Measured real camera errors after that: ZED vs left arm 4.3 mm, left wrist 3.4 mm, right wrist 5.1 mm. Rule: real errors are a floor, sim camera errors are set at or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Lock detection: the keyhole detector flipped between the chrome disk (~25 mm) and the disk + bezel (~32 mm), giving 2-5 mm aim errors, and the left camera saw the keyhole 11-14 mm too close. Fix: an eye-in-hand look from the right wrist (noise 0.1-0.2 mm). The real lock face was measured with the wrist cameras and rebuilt in the twin: new outlines land within 1-3 mm (the old twin had paddle and plate in the wrong place, no slot). The lock area was re-measured with the maker's photo: bezel edge error 3.8 → 2.9 px (left wrist), 4.9 → 3.7 px (right wrist); the tab is now a bar in the middle of the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Physics: five problems, each shown before and after its fix. Real clips show the real behaviour; sim clips are the same seed (9000101) with the old physics switched back on where it still reproduces.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tipping problems. (a) Real6b: randomized key holders that were too thin or too tall toppled at reset (7 of the 20 real6b final failures), so the holder aspect is now capped. (b) real9: a stale centre-of-mass constant (-8 mm) made the standing key tip onto its blade tip (blade pitch 25.8°, i.e. it tipped ~28° from where it was placed); the centre of mass is now computed from the key's parts and the key stays level. Video: same seed 9000102, the key as placed on the mat, the first 0.8 s at 0.3x speed (it falls in 0.25 s), then 0.6x.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(before): run_123617, right wrist at 2x: the key is in the fingertips at the keyhole and leaves the old edge pinch during the align servo; the fingers end empty. Fix on the real robot: the key now stands on its long edge and the right hand pinches it across its thickness. Sim: the gripper was a position servo that squeezed only ~9 N (4 N per side) and the fingertips were edgy convex mesh pieces, so the key rocked between their edges and walked 5-13 mm in the hand (up to 54 mm with the old lock-face teleport bug). Now: flat fingertip pads + a real 35-40 N squeeze; the key moves ≤ 0.3 mm between lift and insertion on all 19 seeds that lifted it. Note: with today's code the old grip settings no longer make this seed slip (the pads alone hold it), so the sim 'before' numbers come from the earlier runs, not a re-render.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Real: the key stuck at a pin ~10 mm in until rocked (run_015204 at 6x: blade still visible for the whole push). Teleop demos: aimed right at the face ~1 s, aimed wrong 3-11 s of sweeping, partly in 7-28 s until rocked free. Sim: the keyway catches the blade only within 1.8 mm / 6°; friction grows with side push and twist; pins at 25-85% depth hold the key until a 25-45 N push or a small wiggle. Old binding 2.0 N/N (BIND_SCALE=4) vs now 0.5 N/N, same seed 9000101, same scripted solver: the key took 47.6 s from the keyway to seated vs 15.2 s now (with the old grip the earlier runs jammed and never seated). Chart: key depth in the keyway vs time from catching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Sim, same seed 9000101, 2x: without a hold-down the right hand's approach shoved the box 244 mm and tipped it 92° onto its side off the riser (insertion IK then failed). The real box does not move; the box is now held firmly like the real one and moves 0.2-0.3 mm in a full episode. Collisions: the safety layer refuses arm-arm, arm-table and arm-riser contact (keep-out = riser + 2 cm, 5 mm above) and joint-limit moves; hand-box contact is ordinary solid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Real: the tab sits in a recess and needs ~17 mm of travel past a stiff point (~5 mm down, ~10 N). The real fingertip caught on the border above it (run_012830) or slid into the recess under it (run_004108); the room above the tab measured 13 mm. Before (old twin): a 6 mm, 700 N/m button with a proud thumb ledge that does not exist on the real box, so any touch opened it. Now: two-stage spring with a hard bottom, latch at 95-98% travel. Sim video (seed 9000101, 1.5x) and chart: the fingertip holds the tab at the stiff point (5.1 mm) for ~8 s while the push builds, then it goes to the bottom (17.2 mm), the latch releases and the lid swings to 105°.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(1) Robot runs, successful or failed: run_015204 (key stuck at a pin ~10 mm in, pads slid) and run_012830 / run_004108 (tab press caught the border / slid into the recess) told us about pin friction and the recessed tab with its stiff point; run_020911 showed the full working sequence. (2) Human demos: the user's 4 teleop demos (ep_172800 etc.) gave the strategy (right arm, grasp from behind pitched 17-40°) and the insertion timings: aimed right ~1 s at the face, aimed wrong 3-11 s of sweeping, partly in 7-28 s stuck until rocked. (3) Language: a person simply telling the sim builder facts; the quotes are paraphrases of what the user said during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in the fixed sim and on the real robot.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user's two recordings of the real YAM opening the box (successful_rollout_1_keybox.mp4, 40.3 s; successful_rollout_2_keybox.mp4, 48.5 s), shown at full length; the speed-ups are burned into the videos (6x, 12x, 16x, normal speed at the press).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self-learning agents (real9 sim; stopped 2026-10-26 21:50) build vision graphs that see only the cameras (ZED view shown, 5x / 4x). Seeded agent: 7/8 on the demo seeds, best 81/100 dev. Scratch agent: 4/8, best 33/40 after the physics fixes. Full 200-seed dev before the fixes: 150/200 (seeded) and 130/200 (scratch). Neither has run the 500-seed final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(1) Give the sim the physics priors first: friction, grip squeeze, stiff points, masses and balance, what is held firmly; measured, or randomized around the best estimate. (2) Have a privileged agent solve it first (true poses, no cameras) to make sure the motion side works: reachability, controller, contacts. Here the scripted solver went 0/20 → 17/20 once the physics was right. (3) Then let the perception-based self-learning agent solve it with sim cameras at least as bad as the real ones. (4) Hopefully zero-shot sim-to-real (real run_020911).
What's left for the key box: re-run both self-learning agents on the fixed physics (key held to ≤ 0.3 mm); run the 500-seed final test; transfer the best graph to the real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Upcoming tasks for the same recipe (physics priors → privileged solve → vision agent with bad-enough cameras → zero-shot to real). (1) Put hairbands into a zip bag: the user's clip IMG_3554 (two satin scrunchies and a butterfly zip pouch, opened, filled and zipped by hand). (2) Put a thin protective film on a screen: a Universal Robots teach-pendant screen. (3) Wheel / bike-rotor task for TRI: already in the pipeline as RSS real2sim; easy variant (seat the lockring tool) 98.2% final; tighten variant (place and spin the lockring snug) final 97.6%; video: scripted reference run, seed 4100003, 2x. (4) Sponsor tasks: Siemens reel handling and the parts organizer (organizer on the YAM twin 98.8% final); Robot Pizza Chef (a twin built 2026-10-26).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514600"/>
            <a:ext cx="6583680" cy="10058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3611880"/>
            <a:ext cx="6583680" cy="1097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Key box · sim to real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microsoft.com/office/2007/relationships/media" Target="../media/media3.mp4"/><Relationship Id="rId4" Type="http://schemas.openxmlformats.org/officeDocument/2006/relationships/video" Target="../media/media3.mp4"/><Relationship Id="rId3" Type="http://schemas.openxmlformats.org/officeDocument/2006/relationships/image" Target="../media/image5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microsoft.com/office/2007/relationships/media" Target="../media/media5.mp4"/><Relationship Id="rId4" Type="http://schemas.openxmlformats.org/officeDocument/2006/relationships/video" Target="../media/media5.mp4"/><Relationship Id="rId3" Type="http://schemas.openxmlformats.org/officeDocument/2006/relationships/image" Target="../media/image7.png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4.jpeg"/><Relationship Id="rId3" Type="http://schemas.openxmlformats.org/officeDocument/2006/relationships/image" Target="../media/image9.jpeg"/><Relationship Id="rId2" Type="http://schemas.openxmlformats.org/officeDocument/2006/relationships/image" Target="../media/image13.jpe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jpeg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34.jpeg"/><Relationship Id="rId7" Type="http://schemas.openxmlformats.org/officeDocument/2006/relationships/image" Target="../media/image33.jpeg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Relationship Id="rId3" Type="http://schemas.openxmlformats.org/officeDocument/2006/relationships/image" Target="../media/image1.jpeg"/><Relationship Id="rId2" Type="http://schemas.openxmlformats.org/officeDocument/2006/relationships/image" Target="../media/image50.jpe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5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microsoft.com/office/2007/relationships/media" Target="../media/media3.mp4"/><Relationship Id="rId4" Type="http://schemas.openxmlformats.org/officeDocument/2006/relationships/video" Target="../media/media3.mp4"/><Relationship Id="rId3" Type="http://schemas.openxmlformats.org/officeDocument/2006/relationships/image" Target="../media/image5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6.png"/><Relationship Id="rId2" Type="http://schemas.microsoft.com/office/2007/relationships/media" Target="../media/media6.mp4"/><Relationship Id="rId1" Type="http://schemas.openxmlformats.org/officeDocument/2006/relationships/video" Target="../media/media6.mp4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.png"/><Relationship Id="rId3" Type="http://schemas.openxmlformats.org/officeDocument/2006/relationships/image" Target="../media/image56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61.png"/><Relationship Id="rId6" Type="http://schemas.microsoft.com/office/2007/relationships/media" Target="../media/media8.mp4"/><Relationship Id="rId5" Type="http://schemas.openxmlformats.org/officeDocument/2006/relationships/video" Target="../media/media8.mp4"/><Relationship Id="rId4" Type="http://schemas.openxmlformats.org/officeDocument/2006/relationships/image" Target="../media/image60.jpeg"/><Relationship Id="rId3" Type="http://schemas.openxmlformats.org/officeDocument/2006/relationships/image" Target="../media/image59.png"/><Relationship Id="rId2" Type="http://schemas.microsoft.com/office/2007/relationships/media" Target="../media/media7.mp4"/><Relationship Id="rId1" Type="http://schemas.openxmlformats.org/officeDocument/2006/relationships/video" Target="../media/media7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the key box: sim to real with GaP</a:t>
            </a:r>
            <a:endParaRPr lang="en-US" sz="40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Motion · Perception · Physics: what it took to turn a sim-only success into a real one</a:t>
            </a:r>
            <a:endParaRPr lang="en-US" sz="1800" dirty="0"/>
          </a:p>
        </p:txBody>
      </p:sp>
      <p:pic>
        <p:nvPicPr>
          <p:cNvPr id="5" name="img1" descr="run_020911_lid_open_ze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8635"/>
            <a:ext cx="6400800" cy="3600450"/>
          </a:xfrm>
          <a:prstGeom prst="rect">
            <a:avLst/>
          </a:prstGeom>
        </p:spPr>
      </p:pic>
      <p:sp>
        <p:nvSpPr>
          <p:cNvPr id="6" name="tag REAL · run_020911"/>
          <p:cNvSpPr txBox="1"/>
          <p:nvPr/>
        </p:nvSpPr>
        <p:spPr>
          <a:xfrm>
            <a:off x="658368" y="618363"/>
            <a:ext cx="1440180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run_020911</a:t>
            </a:r>
            <a:endParaRPr lang="en-US" sz="1100" dirty="0"/>
          </a:p>
        </p:txBody>
      </p:sp>
      <p:pic>
        <p:nvPicPr>
          <p:cNvPr id="7" name="img2" descr="hero_s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662940"/>
            <a:ext cx="4389120" cy="3291840"/>
          </a:xfrm>
          <a:prstGeom prst="rect">
            <a:avLst/>
          </a:prstGeom>
        </p:spPr>
      </p:pic>
      <p:sp>
        <p:nvSpPr>
          <p:cNvPr id="8" name="tag SIM · current twin"/>
          <p:cNvSpPr txBox="1"/>
          <p:nvPr/>
        </p:nvSpPr>
        <p:spPr>
          <a:xfrm>
            <a:off x="7379208" y="772668"/>
            <a:ext cx="1517904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SIM · current twin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978408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82245" y="228600"/>
            <a:ext cx="1182751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Self-learning pipeline solves many tasks. Can it solve the hardest one?</a:t>
            </a:r>
            <a:endParaRPr lang="en-US" sz="2800" dirty="0"/>
          </a:p>
        </p:txBody>
      </p:sp>
      <p:sp>
        <p:nvSpPr>
          <p:cNvPr id="4" name="card 3"/>
          <p:cNvSpPr/>
          <p:nvPr/>
        </p:nvSpPr>
        <p:spPr>
          <a:xfrm>
            <a:off x="411480" y="1143000"/>
            <a:ext cx="1828800" cy="21945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ile Latched toolbox"/>
          <p:cNvSpPr txBox="1"/>
          <p:nvPr/>
        </p:nvSpPr>
        <p:spPr>
          <a:xfrm>
            <a:off x="548640" y="128016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500/500</a:t>
            </a:r>
            <a:endParaRPr lang="en-US" sz="2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Latched toolbox</a:t>
            </a:r>
            <a:endParaRPr lang="en-US" sz="2700" dirty="0"/>
          </a:p>
        </p:txBody>
      </p:sp>
      <p:sp>
        <p:nvSpPr>
          <p:cNvPr id="6" name="card 4"/>
          <p:cNvSpPr/>
          <p:nvPr/>
        </p:nvSpPr>
        <p:spPr>
          <a:xfrm>
            <a:off x="2395728" y="1143000"/>
            <a:ext cx="1828800" cy="21945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ile Tool hanging"/>
          <p:cNvSpPr txBox="1"/>
          <p:nvPr/>
        </p:nvSpPr>
        <p:spPr>
          <a:xfrm>
            <a:off x="2532888" y="128016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500/500</a:t>
            </a:r>
            <a:endParaRPr lang="en-US" sz="2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Tool hanging</a:t>
            </a:r>
            <a:endParaRPr lang="en-US" sz="2700" dirty="0"/>
          </a:p>
        </p:txBody>
      </p:sp>
      <p:sp>
        <p:nvSpPr>
          <p:cNvPr id="8" name="card 5"/>
          <p:cNvSpPr/>
          <p:nvPr/>
        </p:nvSpPr>
        <p:spPr>
          <a:xfrm>
            <a:off x="4379976" y="1143000"/>
            <a:ext cx="1828800" cy="21945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ile Peg insertion"/>
          <p:cNvSpPr txBox="1"/>
          <p:nvPr/>
        </p:nvSpPr>
        <p:spPr>
          <a:xfrm>
            <a:off x="4517136" y="128016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500/500</a:t>
            </a:r>
            <a:endParaRPr lang="en-US" sz="2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Peg insertion</a:t>
            </a:r>
            <a:endParaRPr lang="en-US" sz="2700" dirty="0"/>
          </a:p>
        </p:txBody>
      </p:sp>
      <p:sp>
        <p:nvSpPr>
          <p:cNvPr id="10" name="card 6"/>
          <p:cNvSpPr/>
          <p:nvPr/>
        </p:nvSpPr>
        <p:spPr>
          <a:xfrm>
            <a:off x="6364224" y="1143000"/>
            <a:ext cx="1828800" cy="21945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ile Wrench hanging"/>
          <p:cNvSpPr txBox="1"/>
          <p:nvPr/>
        </p:nvSpPr>
        <p:spPr>
          <a:xfrm>
            <a:off x="6501384" y="128016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500/500</a:t>
            </a:r>
            <a:endParaRPr lang="en-US" sz="2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Wrench hanging</a:t>
            </a:r>
            <a:endParaRPr lang="en-US" sz="2700" dirty="0"/>
          </a:p>
        </p:txBody>
      </p:sp>
      <p:sp>
        <p:nvSpPr>
          <p:cNvPr id="12" name="card 7"/>
          <p:cNvSpPr/>
          <p:nvPr/>
        </p:nvSpPr>
        <p:spPr>
          <a:xfrm>
            <a:off x="411480" y="3520440"/>
            <a:ext cx="1828800" cy="21945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ile Coffee machine"/>
          <p:cNvSpPr txBox="1"/>
          <p:nvPr/>
        </p:nvSpPr>
        <p:spPr>
          <a:xfrm>
            <a:off x="548640" y="365760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493/500</a:t>
            </a:r>
            <a:endParaRPr lang="en-US" sz="2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Coffee machine</a:t>
            </a:r>
            <a:endParaRPr lang="en-US" sz="2700" dirty="0"/>
          </a:p>
        </p:txBody>
      </p:sp>
      <p:sp>
        <p:nvSpPr>
          <p:cNvPr id="14" name="card 8"/>
          <p:cNvSpPr/>
          <p:nvPr/>
        </p:nvSpPr>
        <p:spPr>
          <a:xfrm>
            <a:off x="2395728" y="3520440"/>
            <a:ext cx="1828800" cy="21945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ile Scissor-hook (YAM)"/>
          <p:cNvSpPr txBox="1"/>
          <p:nvPr/>
        </p:nvSpPr>
        <p:spPr>
          <a:xfrm>
            <a:off x="2532888" y="365760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200/200</a:t>
            </a:r>
            <a:endParaRPr lang="en-US" sz="2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Scissor-hook (YAM)</a:t>
            </a:r>
            <a:endParaRPr lang="en-US" sz="2700" dirty="0"/>
          </a:p>
        </p:txBody>
      </p:sp>
      <p:sp>
        <p:nvSpPr>
          <p:cNvPr id="16" name="card 9"/>
          <p:cNvSpPr/>
          <p:nvPr/>
        </p:nvSpPr>
        <p:spPr>
          <a:xfrm>
            <a:off x="4379976" y="3520440"/>
            <a:ext cx="1828800" cy="21945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ile Siemens organizer"/>
          <p:cNvSpPr txBox="1"/>
          <p:nvPr/>
        </p:nvSpPr>
        <p:spPr>
          <a:xfrm>
            <a:off x="4517136" y="365760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2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Siemens organizer</a:t>
            </a:r>
            <a:endParaRPr lang="en-US" sz="2700" dirty="0"/>
          </a:p>
        </p:txBody>
      </p:sp>
      <p:sp>
        <p:nvSpPr>
          <p:cNvPr id="18" name="card 10"/>
          <p:cNvSpPr/>
          <p:nvPr/>
        </p:nvSpPr>
        <p:spPr>
          <a:xfrm>
            <a:off x="6364224" y="3520440"/>
            <a:ext cx="1828800" cy="21945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ile Bike rotor"/>
          <p:cNvSpPr txBox="1"/>
          <p:nvPr/>
        </p:nvSpPr>
        <p:spPr>
          <a:xfrm>
            <a:off x="6501384" y="365760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98.2%</a:t>
            </a:r>
            <a:endParaRPr lang="en-US" sz="2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Bike rotor</a:t>
            </a:r>
            <a:endParaRPr lang="en-US" sz="2700" dirty="0"/>
          </a:p>
        </p:txBody>
      </p:sp>
      <p:sp>
        <p:nvSpPr>
          <p:cNvPr id="20" name="caption 11"/>
          <p:cNvSpPr txBox="1"/>
          <p:nvPr/>
        </p:nvSpPr>
        <p:spPr>
          <a:xfrm>
            <a:off x="411480" y="5806440"/>
            <a:ext cx="7781544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Solved in sim by the self-learning pipeline (held-out final tests; scissor-hook = dev)</a:t>
            </a:r>
            <a:endParaRPr lang="en-US" sz="1300" dirty="0"/>
          </a:p>
        </p:txBody>
      </p:sp>
      <p:sp>
        <p:nvSpPr>
          <p:cNvPr id="21" name="card 12"/>
          <p:cNvSpPr/>
          <p:nvPr/>
        </p:nvSpPr>
        <p:spPr>
          <a:xfrm>
            <a:off x="8503920" y="1143000"/>
            <a:ext cx="3273552" cy="4572000"/>
          </a:xfrm>
          <a:prstGeom prst="roundRect">
            <a:avLst>
              <a:gd name="adj" fmla="val 22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mg13" descr="IMG_3520_key_in_lock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442466"/>
            <a:ext cx="2999232" cy="1687068"/>
          </a:xfrm>
          <a:prstGeom prst="rect">
            <a:avLst/>
          </a:prstGeom>
        </p:spPr>
      </p:pic>
      <p:sp>
        <p:nvSpPr>
          <p:cNvPr id="23" name="tag THE CHALLENGE"/>
          <p:cNvSpPr txBox="1"/>
          <p:nvPr/>
        </p:nvSpPr>
        <p:spPr>
          <a:xfrm>
            <a:off x="8732520" y="1534160"/>
            <a:ext cx="112903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24" name="challenge text"/>
          <p:cNvSpPr txBox="1"/>
          <p:nvPr/>
        </p:nvSpPr>
        <p:spPr>
          <a:xfrm>
            <a:off x="8732520" y="3429000"/>
            <a:ext cx="2816352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box</a:t>
            </a:r>
            <a:endParaRPr lang="en-US" sz="3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5"/>
                </a:solidFill>
              </a:rPr>
              <a:t>precise insertion · a turn · a hidden release tab</a:t>
            </a:r>
            <a:endParaRPr lang="en-US" sz="3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on a real YAM with no force sensing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56335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task: grasp the key, unlock, press the tab, the lid springs open</a:t>
            </a:r>
            <a:endParaRPr lang="en-US" sz="2800" dirty="0"/>
          </a:p>
        </p:txBody>
      </p:sp>
      <p:pic>
        <p:nvPicPr>
          <p:cNvPr id="3" name="video human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46835" y="1203960"/>
            <a:ext cx="9005570" cy="50653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doing the task</a:t>
            </a:r>
            <a:endParaRPr lang="en-US" sz="2800" dirty="0"/>
          </a:p>
        </p:txBody>
      </p:sp>
      <p:pic>
        <p:nvPicPr>
          <p:cNvPr id="3" name="video rollout1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11480" y="1464869"/>
            <a:ext cx="5596128" cy="4476902"/>
          </a:xfrm>
          <a:prstGeom prst="rect">
            <a:avLst/>
          </a:prstGeom>
        </p:spPr>
      </p:pic>
      <p:sp>
        <p:nvSpPr>
          <p:cNvPr id="5" name="tag Rollout 1"/>
          <p:cNvSpPr txBox="1"/>
          <p:nvPr/>
        </p:nvSpPr>
        <p:spPr>
          <a:xfrm>
            <a:off x="502920" y="1556309"/>
            <a:ext cx="81838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Rollout 1</a:t>
            </a:r>
            <a:endParaRPr lang="en-US" sz="1100" dirty="0"/>
          </a:p>
        </p:txBody>
      </p:sp>
      <p:pic>
        <p:nvPicPr>
          <p:cNvPr id="6" name="video rollout2c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54039" y="1477569"/>
            <a:ext cx="5596128" cy="4476902"/>
          </a:xfrm>
          <a:prstGeom prst="rect">
            <a:avLst/>
          </a:prstGeom>
        </p:spPr>
      </p:pic>
      <p:sp>
        <p:nvSpPr>
          <p:cNvPr id="7" name="tag Rollout 2"/>
          <p:cNvSpPr txBox="1"/>
          <p:nvPr/>
        </p:nvSpPr>
        <p:spPr>
          <a:xfrm>
            <a:off x="6272784" y="1556309"/>
            <a:ext cx="81838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Rollout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task is hard for YAM</a:t>
            </a:r>
            <a:endParaRPr lang="en-US" sz="2800" dirty="0"/>
          </a:p>
        </p:txBody>
      </p:sp>
      <p:sp>
        <p:nvSpPr>
          <p:cNvPr id="4" name="card 19"/>
          <p:cNvSpPr/>
          <p:nvPr/>
        </p:nvSpPr>
        <p:spPr>
          <a:xfrm>
            <a:off x="411480" y="1143000"/>
            <a:ext cx="557784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g20" descr="simstart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52728"/>
            <a:ext cx="3023616" cy="2267712"/>
          </a:xfrm>
          <a:prstGeom prst="rect">
            <a:avLst/>
          </a:prstGeom>
        </p:spPr>
      </p:pic>
      <p:sp>
        <p:nvSpPr>
          <p:cNvPr id="6" name="dot 21"/>
          <p:cNvSpPr/>
          <p:nvPr/>
        </p:nvSpPr>
        <p:spPr>
          <a:xfrm>
            <a:off x="3977640" y="137160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7" name="dot text 21"/>
          <p:cNvSpPr txBox="1"/>
          <p:nvPr/>
        </p:nvSpPr>
        <p:spPr>
          <a:xfrm>
            <a:off x="397764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526280" y="1371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demos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3977640" y="2011680"/>
            <a:ext cx="1874520" cy="148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0 demos at the start: agents had to find the strategy in sim</a:t>
            </a:r>
            <a:endParaRPr lang="en-US" sz="1600" dirty="0"/>
          </a:p>
        </p:txBody>
      </p:sp>
      <p:sp>
        <p:nvSpPr>
          <p:cNvPr id="10" name="card 22"/>
          <p:cNvSpPr/>
          <p:nvPr/>
        </p:nvSpPr>
        <p:spPr>
          <a:xfrm>
            <a:off x="6199632" y="1143000"/>
            <a:ext cx="557784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mg23" descr="inlin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91615"/>
            <a:ext cx="3291840" cy="1789938"/>
          </a:xfrm>
          <a:prstGeom prst="rect">
            <a:avLst/>
          </a:prstGeom>
        </p:spPr>
      </p:pic>
      <p:sp>
        <p:nvSpPr>
          <p:cNvPr id="12" name="dot 24"/>
          <p:cNvSpPr/>
          <p:nvPr/>
        </p:nvSpPr>
        <p:spPr>
          <a:xfrm>
            <a:off x="9765792" y="137160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3" name="dot text 24"/>
          <p:cNvSpPr txBox="1"/>
          <p:nvPr/>
        </p:nvSpPr>
        <p:spPr>
          <a:xfrm>
            <a:off x="9765792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314432" y="1371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Very precise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9765792" y="2011680"/>
            <a:ext cx="1874520" cy="148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Keyway catches within 1.8 mm / 6°; the arm landed 2–10 mm off</a:t>
            </a:r>
            <a:endParaRPr lang="en-US" sz="1600" dirty="0"/>
          </a:p>
        </p:txBody>
      </p:sp>
      <p:sp>
        <p:nvSpPr>
          <p:cNvPr id="16" name="card 25"/>
          <p:cNvSpPr/>
          <p:nvPr/>
        </p:nvSpPr>
        <p:spPr>
          <a:xfrm>
            <a:off x="411480" y="3794760"/>
            <a:ext cx="557784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mg26" descr="inlin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112514"/>
            <a:ext cx="3291840" cy="1851660"/>
          </a:xfrm>
          <a:prstGeom prst="rect">
            <a:avLst/>
          </a:prstGeom>
        </p:spPr>
      </p:pic>
      <p:sp>
        <p:nvSpPr>
          <p:cNvPr id="18" name="dot 27"/>
          <p:cNvSpPr/>
          <p:nvPr/>
        </p:nvSpPr>
        <p:spPr>
          <a:xfrm>
            <a:off x="3977640" y="402336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9" name="dot text 27"/>
          <p:cNvSpPr txBox="1"/>
          <p:nvPr/>
        </p:nvSpPr>
        <p:spPr>
          <a:xfrm>
            <a:off x="397764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526280" y="40233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Reach limits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3977640" y="4663440"/>
            <a:ext cx="1874520" cy="148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Left arm: 0/100 scenes; the ~92° turn hits joint 4's limit</a:t>
            </a:r>
            <a:endParaRPr lang="en-US" sz="1600" dirty="0"/>
          </a:p>
        </p:txBody>
      </p:sp>
      <p:sp>
        <p:nvSpPr>
          <p:cNvPr id="22" name="card 28"/>
          <p:cNvSpPr/>
          <p:nvPr/>
        </p:nvSpPr>
        <p:spPr>
          <a:xfrm>
            <a:off x="6199632" y="3794760"/>
            <a:ext cx="557784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img29" descr="n_stuck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904488"/>
            <a:ext cx="2721254" cy="2267712"/>
          </a:xfrm>
          <a:prstGeom prst="rect">
            <a:avLst/>
          </a:prstGeom>
        </p:spPr>
      </p:pic>
      <p:sp>
        <p:nvSpPr>
          <p:cNvPr id="24" name="dot 30"/>
          <p:cNvSpPr/>
          <p:nvPr/>
        </p:nvSpPr>
        <p:spPr>
          <a:xfrm>
            <a:off x="9765792" y="402336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5" name="dot text 30"/>
          <p:cNvSpPr txBox="1"/>
          <p:nvPr/>
        </p:nvSpPr>
        <p:spPr>
          <a:xfrm>
            <a:off x="9765792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0314432" y="40233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force sensor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765792" y="4663440"/>
            <a:ext cx="1874520" cy="148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Can't feel a pin, a slip or the tab's stiff point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in sim, no progress on the real robot</a:t>
            </a:r>
            <a:endParaRPr lang="en-US" sz="2800" dirty="0"/>
          </a:p>
        </p:txBody>
      </p:sp>
      <p:pic>
        <p:nvPicPr>
          <p:cNvPr id="3" name="video simstart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" y="1188720"/>
            <a:ext cx="5486400" cy="4114800"/>
          </a:xfrm>
          <a:prstGeom prst="rect">
            <a:avLst/>
          </a:prstGeom>
        </p:spPr>
      </p:pic>
      <p:sp>
        <p:nvSpPr>
          <p:cNvPr id="5" name="tag SIM · first port, 2026-10-20"/>
          <p:cNvSpPr txBox="1"/>
          <p:nvPr/>
        </p:nvSpPr>
        <p:spPr>
          <a:xfrm>
            <a:off x="548640" y="1280160"/>
            <a:ext cx="2295144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SIM · first port, 2026-10-20</a:t>
            </a:r>
            <a:endParaRPr lang="en-US" sz="1100" dirty="0"/>
          </a:p>
        </p:txBody>
      </p:sp>
      <p:pic>
        <p:nvPicPr>
          <p:cNvPr id="6" name="video dropped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50152" y="1188720"/>
            <a:ext cx="4876800" cy="4114800"/>
          </a:xfrm>
          <a:prstGeom prst="rect">
            <a:avLst/>
          </a:prstGeom>
        </p:spPr>
      </p:pic>
      <p:sp>
        <p:nvSpPr>
          <p:cNvPr id="7" name="tag REAL · 22 Oct, key lost while lining up"/>
          <p:cNvSpPr txBox="1"/>
          <p:nvPr/>
        </p:nvSpPr>
        <p:spPr>
          <a:xfrm>
            <a:off x="6641592" y="1280160"/>
            <a:ext cx="3150108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22 Oct, key lost while lining up</a:t>
            </a:r>
            <a:endParaRPr lang="en-US" sz="1100" dirty="0"/>
          </a:p>
        </p:txBody>
      </p:sp>
      <p:sp>
        <p:nvSpPr>
          <p:cNvPr id="8" name="stat 31"/>
          <p:cNvSpPr txBox="1"/>
          <p:nvPr/>
        </p:nvSpPr>
        <p:spPr>
          <a:xfrm>
            <a:off x="457200" y="54406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496/500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vision graph final in sim (solver 197/200)</a:t>
            </a:r>
            <a:endParaRPr lang="en-US" sz="4000" dirty="0"/>
          </a:p>
        </p:txBody>
      </p:sp>
      <p:sp>
        <p:nvSpPr>
          <p:cNvPr id="9" name="stat 32"/>
          <p:cNvSpPr txBox="1"/>
          <p:nvPr/>
        </p:nvSpPr>
        <p:spPr>
          <a:xfrm>
            <a:off x="6550152" y="5440680"/>
            <a:ext cx="4876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b="1" dirty="0">
              <a:solidFill>
                <a:schemeClr val="accent3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real runs that reached the key turn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51460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Motion</a:t>
            </a:r>
            <a:endParaRPr lang="en-US" sz="44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548640" y="361188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Reach the poses · land where commanded</a:t>
            </a:r>
            <a:endParaRPr lang="en-US" sz="1800" dirty="0"/>
          </a:p>
        </p:txBody>
      </p:sp>
      <p:pic>
        <p:nvPicPr>
          <p:cNvPr id="5" name="img36" descr="n_align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98600"/>
            <a:ext cx="4572000" cy="386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 Reachability</a:t>
            </a:r>
            <a:endParaRPr lang="en-US" sz="2800" dirty="0"/>
          </a:p>
        </p:txBody>
      </p:sp>
      <p:pic>
        <p:nvPicPr>
          <p:cNvPr id="4" name="img37" descr="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852160" cy="3291840"/>
          </a:xfrm>
          <a:prstGeom prst="rect">
            <a:avLst/>
          </a:prstGeom>
        </p:spPr>
      </p:pic>
      <p:sp>
        <p:nvSpPr>
          <p:cNvPr id="5" name="tag BEFORE (red) vs AFTER (green)"/>
          <p:cNvSpPr txBox="1"/>
          <p:nvPr/>
        </p:nvSpPr>
        <p:spPr>
          <a:xfrm>
            <a:off x="502920" y="1234440"/>
            <a:ext cx="2372868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BEFORE (red) vs AFTER (green)</a:t>
            </a:r>
            <a:endParaRPr lang="en-US" sz="1100" dirty="0"/>
          </a:p>
        </p:txBody>
      </p:sp>
      <p:pic>
        <p:nvPicPr>
          <p:cNvPr id="6" name="img38" descr="inlin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15434"/>
            <a:ext cx="2852928" cy="1604772"/>
          </a:xfrm>
          <a:prstGeom prst="rect">
            <a:avLst/>
          </a:prstGeom>
        </p:spPr>
      </p:pic>
      <p:sp>
        <p:nvSpPr>
          <p:cNvPr id="7" name="tag AFTER · right arm"/>
          <p:cNvSpPr txBox="1"/>
          <p:nvPr/>
        </p:nvSpPr>
        <p:spPr>
          <a:xfrm>
            <a:off x="502920" y="4706874"/>
            <a:ext cx="144018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AFTER · right arm</a:t>
            </a:r>
            <a:endParaRPr lang="en-US" sz="1100" dirty="0"/>
          </a:p>
        </p:txBody>
      </p:sp>
      <p:pic>
        <p:nvPicPr>
          <p:cNvPr id="8" name="img39" descr="run_004108_key_turned_r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4615434"/>
            <a:ext cx="2852928" cy="1604772"/>
          </a:xfrm>
          <a:prstGeom prst="rect">
            <a:avLst/>
          </a:prstGeom>
        </p:spPr>
      </p:pic>
      <p:sp>
        <p:nvSpPr>
          <p:cNvPr id="9" name="tag REAL · turned −92°"/>
          <p:cNvSpPr txBox="1"/>
          <p:nvPr/>
        </p:nvSpPr>
        <p:spPr>
          <a:xfrm>
            <a:off x="3502152" y="4706874"/>
            <a:ext cx="1517904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turned −92°</a:t>
            </a:r>
            <a:endParaRPr lang="en-US" sz="1100" dirty="0"/>
          </a:p>
        </p:txBody>
      </p:sp>
      <p:graphicFrame>
        <p:nvGraphicFramePr>
          <p:cNvPr id="10" name="chart reach"/>
          <p:cNvGraphicFramePr/>
          <p:nvPr/>
        </p:nvGraphicFramePr>
        <p:xfrm>
          <a:off x="6492240" y="1143000"/>
          <a:ext cx="52852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caption 40"/>
          <p:cNvSpPr txBox="1"/>
          <p:nvPr/>
        </p:nvSpPr>
        <p:spPr>
          <a:xfrm>
            <a:off x="6492240" y="5212080"/>
            <a:ext cx="528523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0 → 100 </a:t>
            </a:r>
            <a:r>
              <a:rPr lang="en-US" sz="1500" dirty="0">
                <a:solidFill>
                  <a:schemeClr val="tx1"/>
                </a:solidFill>
              </a:rPr>
              <a:t>of 100 scenes feasible after moving the box and giving the right arm the whole job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−92° </a:t>
            </a:r>
            <a:r>
              <a:rPr lang="en-US" sz="1500" dirty="0">
                <a:solidFill>
                  <a:schemeClr val="tx1"/>
                </a:solidFill>
              </a:rPr>
              <a:t>turn: the real lock turns the other way; ~80° reach before joint 4's limit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offset came from gravity, friction and gains</a:t>
            </a:r>
            <a:endParaRPr lang="en-US" sz="2800" dirty="0"/>
          </a:p>
        </p:txBody>
      </p:sp>
      <p:graphicFrame>
        <p:nvGraphicFramePr>
          <p:cNvPr id="4" name="chart controller"/>
          <p:cNvGraphicFramePr/>
          <p:nvPr/>
        </p:nvGraphicFramePr>
        <p:xfrm>
          <a:off x="457200" y="118872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5" name="img42" descr="inlin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116" y="1188720"/>
            <a:ext cx="4958080" cy="2788920"/>
          </a:xfrm>
          <a:prstGeom prst="rect">
            <a:avLst/>
          </a:prstGeom>
        </p:spPr>
      </p:pic>
      <p:sp>
        <p:nvSpPr>
          <p:cNvPr id="6" name="tag REAL right wrist · run_123617"/>
          <p:cNvSpPr txBox="1"/>
          <p:nvPr/>
        </p:nvSpPr>
        <p:spPr>
          <a:xfrm>
            <a:off x="6861556" y="1280160"/>
            <a:ext cx="2372868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right wrist · run_123617</a:t>
            </a:r>
            <a:endParaRPr lang="en-US" sz="1100" dirty="0"/>
          </a:p>
        </p:txBody>
      </p:sp>
      <p:sp>
        <p:nvSpPr>
          <p:cNvPr id="7" name="caption 43"/>
          <p:cNvSpPr txBox="1"/>
          <p:nvPr/>
        </p:nvSpPr>
        <p:spPr>
          <a:xfrm>
            <a:off x="6766560" y="4041648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green </a:t>
            </a:r>
            <a:r>
              <a:rPr lang="en-US" sz="1300" dirty="0">
                <a:solidFill>
                  <a:schemeClr val="tx1"/>
                </a:solidFill>
              </a:rPr>
              <a:t>real lock  </a:t>
            </a:r>
            <a:r>
              <a:rPr lang="en-US" sz="1300" b="1" dirty="0">
                <a:solidFill>
                  <a:schemeClr val="accent1"/>
                </a:solidFill>
              </a:rPr>
              <a:t>blue </a:t>
            </a:r>
            <a:r>
              <a:rPr lang="en-US" sz="1300" dirty="0">
                <a:solidFill>
                  <a:schemeClr val="tx1"/>
                </a:solidFill>
              </a:rPr>
              <a:t>twin, same joints  </a:t>
            </a:r>
            <a:r>
              <a:rPr lang="en-US" sz="1300" b="1" dirty="0">
                <a:solidFill>
                  <a:schemeClr val="accent1"/>
                </a:solidFill>
              </a:rPr>
              <a:t>magenta </a:t>
            </a:r>
            <a:r>
              <a:rPr lang="en-US" sz="1300" dirty="0">
                <a:solidFill>
                  <a:schemeClr val="tx1"/>
                </a:solidFill>
              </a:rPr>
              <a:t>old sag model</a:t>
            </a:r>
            <a:endParaRPr lang="en-US" sz="1300" dirty="0"/>
          </a:p>
        </p:txBody>
      </p:sp>
      <p:sp>
        <p:nvSpPr>
          <p:cNvPr id="8" name="stat 44"/>
          <p:cNvSpPr txBox="1"/>
          <p:nvPr/>
        </p:nvSpPr>
        <p:spPr>
          <a:xfrm>
            <a:off x="6766560" y="4526280"/>
            <a:ext cx="496519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 → 0.7 mm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gravity sag, right arm (left 16.6 → 2.0 mm)</a:t>
            </a:r>
            <a:endParaRPr lang="en-US" sz="4000" dirty="0"/>
          </a:p>
        </p:txBody>
      </p:sp>
      <p:sp>
        <p:nvSpPr>
          <p:cNvPr id="9" name="caption 45"/>
          <p:cNvSpPr txBox="1"/>
          <p:nvPr/>
        </p:nvSpPr>
        <p:spPr>
          <a:xfrm>
            <a:off x="457200" y="5577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1.1–1.2 Nm </a:t>
            </a:r>
            <a:r>
              <a:rPr lang="en-US" sz="1400" dirty="0">
                <a:solidFill>
                  <a:schemeClr val="tx1"/>
                </a:solidFill>
              </a:rPr>
              <a:t>elbow static friction, now fed forward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 now moves like the real arm</a:t>
            </a:r>
            <a:endParaRPr lang="en-US" sz="2800" dirty="0"/>
          </a:p>
        </p:txBody>
      </p:sp>
      <p:pic>
        <p:nvPicPr>
          <p:cNvPr id="4" name="img46" descr="inline_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257" y="1188720"/>
            <a:ext cx="5096063" cy="4297680"/>
          </a:xfrm>
          <a:prstGeom prst="rect">
            <a:avLst/>
          </a:prstGeom>
        </p:spPr>
      </p:pic>
      <p:sp>
        <p:nvSpPr>
          <p:cNvPr id="5" name="tag aligning: real | sim"/>
          <p:cNvSpPr txBox="1"/>
          <p:nvPr/>
        </p:nvSpPr>
        <p:spPr>
          <a:xfrm>
            <a:off x="984697" y="1280160"/>
            <a:ext cx="167335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aligning: real | sim</a:t>
            </a:r>
            <a:endParaRPr lang="en-US" sz="1100" dirty="0"/>
          </a:p>
        </p:txBody>
      </p:sp>
      <p:pic>
        <p:nvPicPr>
          <p:cNvPr id="6" name="img47" descr="inlin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188720"/>
            <a:ext cx="5096063" cy="4297680"/>
          </a:xfrm>
          <a:prstGeom prst="rect">
            <a:avLst/>
          </a:prstGeom>
        </p:spPr>
      </p:pic>
      <p:sp>
        <p:nvSpPr>
          <p:cNvPr id="7" name="tag pushing: real | sim"/>
          <p:cNvSpPr txBox="1"/>
          <p:nvPr/>
        </p:nvSpPr>
        <p:spPr>
          <a:xfrm>
            <a:off x="6291072" y="1280160"/>
            <a:ext cx="1595628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pushing: real | sim</a:t>
            </a:r>
            <a:endParaRPr lang="en-US" sz="1100" dirty="0"/>
          </a:p>
        </p:txBody>
      </p:sp>
      <p:sp>
        <p:nvSpPr>
          <p:cNvPr id="8" name="caption 48"/>
          <p:cNvSpPr txBox="1"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Springs </a:t>
            </a:r>
            <a:r>
              <a:rPr lang="en-US" sz="1500" dirty="0">
                <a:solidFill>
                  <a:schemeClr val="tx1"/>
                </a:solidFill>
              </a:rPr>
              <a:t>80/80/80/40/10/10  ·  </a:t>
            </a:r>
            <a:r>
              <a:rPr lang="en-US" sz="1500" b="1" dirty="0">
                <a:solidFill>
                  <a:schemeClr val="accent1"/>
                </a:solidFill>
              </a:rPr>
              <a:t>capped </a:t>
            </a:r>
            <a:r>
              <a:rPr lang="en-US" sz="1500" dirty="0">
                <a:solidFill>
                  <a:schemeClr val="tx1"/>
                </a:solidFill>
              </a:rPr>
              <a:t>integral  ·  </a:t>
            </a:r>
            <a:r>
              <a:rPr lang="en-US" sz="1500" b="1" dirty="0">
                <a:solidFill>
                  <a:schemeClr val="accent1"/>
                </a:solidFill>
              </a:rPr>
              <a:t>0.15–0.4° </a:t>
            </a:r>
            <a:r>
              <a:rPr lang="en-US" sz="1500" dirty="0">
                <a:solidFill>
                  <a:schemeClr val="tx1"/>
                </a:solidFill>
              </a:rPr>
              <a:t>landing error per joint  ·  </a:t>
            </a:r>
            <a:r>
              <a:rPr lang="en-US" sz="1500" b="1" dirty="0">
                <a:solidFill>
                  <a:schemeClr val="accent1"/>
                </a:solidFill>
              </a:rPr>
              <a:t>small </a:t>
            </a:r>
            <a:r>
              <a:rPr lang="en-US" sz="1500" dirty="0">
                <a:solidFill>
                  <a:schemeClr val="tx1"/>
                </a:solidFill>
              </a:rPr>
              <a:t>sag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51460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Perception</a:t>
            </a:r>
            <a:endParaRPr lang="en-US" sz="44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548640" y="361188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Depth: choose it · see where it fails · copy the failures · RGB looks</a:t>
            </a:r>
            <a:endParaRPr lang="en-US" sz="1800" dirty="0"/>
          </a:p>
        </p:txBody>
      </p:sp>
      <p:pic>
        <p:nvPicPr>
          <p:cNvPr id="5" name="img49" descr="n_realdepth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091690"/>
            <a:ext cx="4754880" cy="26746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chosen: ZED SDK neural depth, flat, square and fast</a:t>
            </a:r>
            <a:endParaRPr lang="en-US" sz="2800" dirty="0"/>
          </a:p>
        </p:txBody>
      </p:sp>
      <p:pic>
        <p:nvPicPr>
          <p:cNvPr id="4" name="img50" descr="inline_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56915"/>
            <a:ext cx="3657600" cy="2623930"/>
          </a:xfrm>
          <a:prstGeom prst="rect">
            <a:avLst/>
          </a:prstGeom>
        </p:spPr>
      </p:pic>
      <p:sp>
        <p:nvSpPr>
          <p:cNvPr id="5" name="tag SDK Performance"/>
          <p:cNvSpPr txBox="1"/>
          <p:nvPr/>
        </p:nvSpPr>
        <p:spPr>
          <a:xfrm>
            <a:off x="502920" y="1248355"/>
            <a:ext cx="1284732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SDK Performance</a:t>
            </a:r>
            <a:endParaRPr lang="en-US" sz="1100" dirty="0"/>
          </a:p>
        </p:txBody>
      </p:sp>
      <p:sp>
        <p:nvSpPr>
          <p:cNvPr id="6" name="caption 51"/>
          <p:cNvSpPr txBox="1"/>
          <p:nvPr/>
        </p:nvSpPr>
        <p:spPr>
          <a:xfrm>
            <a:off x="411480" y="3872285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3.8 mm </a:t>
            </a:r>
            <a:r>
              <a:rPr lang="en-US" sz="1500" dirty="0">
                <a:solidFill>
                  <a:schemeClr val="tx1"/>
                </a:solidFill>
              </a:rPr>
              <a:t>mat noise · </a:t>
            </a:r>
            <a:r>
              <a:rPr lang="en-US" sz="1500" b="1" dirty="0">
                <a:solidFill>
                  <a:schemeClr val="accent1"/>
                </a:solidFill>
              </a:rPr>
              <a:t>80° </a:t>
            </a:r>
            <a:r>
              <a:rPr lang="en-US" sz="1500" dirty="0">
                <a:solidFill>
                  <a:schemeClr val="tx1"/>
                </a:solidFill>
              </a:rPr>
              <a:t>corner</a:t>
            </a:r>
            <a:endParaRPr lang="en-US" sz="1500" dirty="0"/>
          </a:p>
        </p:txBody>
      </p:sp>
      <p:pic>
        <p:nvPicPr>
          <p:cNvPr id="7" name="img52" descr="inline_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156915"/>
            <a:ext cx="3657600" cy="2623930"/>
          </a:xfrm>
          <a:prstGeom prst="rect">
            <a:avLst/>
          </a:prstGeom>
        </p:spPr>
      </p:pic>
      <p:sp>
        <p:nvSpPr>
          <p:cNvPr id="8" name="tag SDK Neural · chosen"/>
          <p:cNvSpPr txBox="1"/>
          <p:nvPr/>
        </p:nvSpPr>
        <p:spPr>
          <a:xfrm>
            <a:off x="4361688" y="1248355"/>
            <a:ext cx="159562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SDK Neural · chosen</a:t>
            </a:r>
            <a:endParaRPr lang="en-US" sz="1100" dirty="0"/>
          </a:p>
        </p:txBody>
      </p:sp>
      <p:sp>
        <p:nvSpPr>
          <p:cNvPr id="9" name="caption 53"/>
          <p:cNvSpPr txBox="1"/>
          <p:nvPr/>
        </p:nvSpPr>
        <p:spPr>
          <a:xfrm>
            <a:off x="4270248" y="3872285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5.7 ms </a:t>
            </a:r>
            <a:r>
              <a:rPr lang="en-US" sz="1500" dirty="0">
                <a:solidFill>
                  <a:schemeClr val="tx1"/>
                </a:solidFill>
              </a:rPr>
              <a:t>per frame · </a:t>
            </a:r>
            <a:r>
              <a:rPr lang="en-US" sz="1500" b="1" dirty="0">
                <a:solidFill>
                  <a:schemeClr val="accent1"/>
                </a:solidFill>
              </a:rPr>
              <a:t>89.7° </a:t>
            </a:r>
            <a:r>
              <a:rPr lang="en-US" sz="1500" dirty="0">
                <a:solidFill>
                  <a:schemeClr val="tx1"/>
                </a:solidFill>
              </a:rPr>
              <a:t>corner</a:t>
            </a:r>
            <a:endParaRPr lang="en-US" sz="1500" dirty="0"/>
          </a:p>
        </p:txBody>
      </p:sp>
      <p:pic>
        <p:nvPicPr>
          <p:cNvPr id="10" name="img54" descr="inline_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156915"/>
            <a:ext cx="3657600" cy="2623930"/>
          </a:xfrm>
          <a:prstGeom prst="rect">
            <a:avLst/>
          </a:prstGeom>
        </p:spPr>
      </p:pic>
      <p:sp>
        <p:nvSpPr>
          <p:cNvPr id="11" name="tag FoundationStereo"/>
          <p:cNvSpPr txBox="1"/>
          <p:nvPr/>
        </p:nvSpPr>
        <p:spPr>
          <a:xfrm>
            <a:off x="8211312" y="1248355"/>
            <a:ext cx="136245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FoundationStereo</a:t>
            </a:r>
            <a:endParaRPr lang="en-US" sz="1100" dirty="0"/>
          </a:p>
        </p:txBody>
      </p:sp>
      <p:sp>
        <p:nvSpPr>
          <p:cNvPr id="12" name="caption 55"/>
          <p:cNvSpPr txBox="1"/>
          <p:nvPr/>
        </p:nvSpPr>
        <p:spPr>
          <a:xfrm>
            <a:off x="8119872" y="3872285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0.49 mm </a:t>
            </a:r>
            <a:r>
              <a:rPr lang="en-US" sz="1500" dirty="0">
                <a:solidFill>
                  <a:schemeClr val="tx1"/>
                </a:solidFill>
              </a:rPr>
              <a:t>flattest · </a:t>
            </a:r>
            <a:r>
              <a:rPr lang="en-US" sz="1500" b="1" dirty="0">
                <a:solidFill>
                  <a:schemeClr val="accent1"/>
                </a:solidFill>
              </a:rPr>
              <a:t>185 ms </a:t>
            </a:r>
            <a:r>
              <a:rPr lang="en-US" sz="1500" dirty="0">
                <a:solidFill>
                  <a:schemeClr val="tx1"/>
                </a:solidFill>
              </a:rPr>
              <a:t>per frame</a:t>
            </a:r>
            <a:endParaRPr lang="en-US" sz="1500" dirty="0"/>
          </a:p>
        </p:txBody>
      </p:sp>
      <p:graphicFrame>
        <p:nvGraphicFramePr>
          <p:cNvPr id="13" name="chart zed noise"/>
          <p:cNvGraphicFramePr/>
          <p:nvPr/>
        </p:nvGraphicFramePr>
        <p:xfrm>
          <a:off x="411480" y="4343400"/>
          <a:ext cx="56692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chart zed time"/>
          <p:cNvGraphicFramePr/>
          <p:nvPr/>
        </p:nvGraphicFramePr>
        <p:xfrm>
          <a:off x="6263640" y="4343400"/>
          <a:ext cx="5513832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Shiny and dark surfaces read badly on the real cameras</a:t>
            </a:r>
            <a:endParaRPr lang="en-US" sz="2800" dirty="0"/>
          </a:p>
        </p:txBody>
      </p:sp>
      <p:pic>
        <p:nvPicPr>
          <p:cNvPr id="4" name="img56" descr="n_realrgb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4340352" cy="2441448"/>
          </a:xfrm>
          <a:prstGeom prst="rect">
            <a:avLst/>
          </a:prstGeom>
        </p:spPr>
      </p:pic>
      <p:sp>
        <p:nvSpPr>
          <p:cNvPr id="5" name="tag REAL · right wrist colour"/>
          <p:cNvSpPr txBox="1"/>
          <p:nvPr/>
        </p:nvSpPr>
        <p:spPr>
          <a:xfrm>
            <a:off x="502920" y="1234440"/>
            <a:ext cx="2061972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right wrist colour</a:t>
            </a:r>
            <a:endParaRPr lang="en-US" sz="1100" dirty="0"/>
          </a:p>
        </p:txBody>
      </p:sp>
      <p:pic>
        <p:nvPicPr>
          <p:cNvPr id="6" name="img57" descr="n_realdep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749040"/>
            <a:ext cx="4340352" cy="2441448"/>
          </a:xfrm>
          <a:prstGeom prst="rect">
            <a:avLst/>
          </a:prstGeom>
        </p:spPr>
      </p:pic>
      <p:sp>
        <p:nvSpPr>
          <p:cNvPr id="7" name="tag REAL · same frame, depth"/>
          <p:cNvSpPr txBox="1"/>
          <p:nvPr/>
        </p:nvSpPr>
        <p:spPr>
          <a:xfrm>
            <a:off x="502920" y="3840480"/>
            <a:ext cx="1984248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same frame, depth</a:t>
            </a:r>
            <a:endParaRPr lang="en-US" sz="1100" dirty="0"/>
          </a:p>
        </p:txBody>
      </p:sp>
      <p:pic>
        <p:nvPicPr>
          <p:cNvPr id="8" name="img58" descr="compa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51573"/>
            <a:ext cx="4206240" cy="3549015"/>
          </a:xfrm>
          <a:prstGeom prst="rect">
            <a:avLst/>
          </a:prstGeom>
        </p:spPr>
      </p:pic>
      <p:sp>
        <p:nvSpPr>
          <p:cNvPr id="9" name="tag REAL · left wrist D405"/>
          <p:cNvSpPr txBox="1"/>
          <p:nvPr/>
        </p:nvSpPr>
        <p:spPr>
          <a:xfrm>
            <a:off x="5029200" y="1243013"/>
            <a:ext cx="1828800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left wrist D405</a:t>
            </a:r>
            <a:endParaRPr lang="en-US" sz="1100" dirty="0"/>
          </a:p>
        </p:txBody>
      </p:sp>
      <p:sp>
        <p:nvSpPr>
          <p:cNvPr id="10" name="caption 59"/>
          <p:cNvSpPr txBox="1"/>
          <p:nvPr/>
        </p:nvSpPr>
        <p:spPr>
          <a:xfrm>
            <a:off x="4937760" y="484632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Black = no reading. Streaks follow the ribs; the chrome lock gives holes. Middle: on-camera depth (left) vs FoundationStereo (right).</a:t>
            </a:r>
            <a:endParaRPr lang="en-US" sz="1400" dirty="0"/>
          </a:p>
        </p:txBody>
      </p:sp>
      <p:sp>
        <p:nvSpPr>
          <p:cNvPr id="11" name="stat 60"/>
          <p:cNvSpPr txBox="1"/>
          <p:nvPr/>
        </p:nvSpPr>
        <p:spPr>
          <a:xfrm>
            <a:off x="9326880" y="1188720"/>
            <a:ext cx="245059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of wrist-depth pixels empty at the lock (black)</a:t>
            </a:r>
            <a:endParaRPr lang="en-US" sz="4000" dirty="0"/>
          </a:p>
        </p:txBody>
      </p:sp>
      <p:sp>
        <p:nvSpPr>
          <p:cNvPr id="12" name="stat 61"/>
          <p:cNvSpPr txBox="1"/>
          <p:nvPr/>
        </p:nvSpPr>
        <p:spPr>
          <a:xfrm>
            <a:off x="9326880" y="2880360"/>
            <a:ext cx="245059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 mm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off on the dark ribbed case face</a:t>
            </a:r>
            <a:endParaRPr lang="en-US" sz="4000" dirty="0"/>
          </a:p>
        </p:txBody>
      </p:sp>
      <p:sp>
        <p:nvSpPr>
          <p:cNvPr id="13" name="stat 62"/>
          <p:cNvSpPr txBox="1"/>
          <p:nvPr/>
        </p:nvSpPr>
        <p:spPr>
          <a:xfrm>
            <a:off x="9326880" y="4572000"/>
            <a:ext cx="245059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fill of the on-camera D405 depth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 depth: a camera at least as bad as the real one</a:t>
            </a:r>
            <a:endParaRPr lang="en-US" sz="2800" dirty="0"/>
          </a:p>
        </p:txBody>
      </p:sp>
      <p:pic>
        <p:nvPicPr>
          <p:cNvPr id="4" name="img63" descr="inline_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60170"/>
            <a:ext cx="5394960" cy="4046220"/>
          </a:xfrm>
          <a:prstGeom prst="rect">
            <a:avLst/>
          </a:prstGeom>
        </p:spPr>
      </p:pic>
      <p:sp>
        <p:nvSpPr>
          <p:cNvPr id="5" name="tag SIM · extra noise per surface"/>
          <p:cNvSpPr txBox="1"/>
          <p:nvPr/>
        </p:nvSpPr>
        <p:spPr>
          <a:xfrm>
            <a:off x="502920" y="1451610"/>
            <a:ext cx="237286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SIM · extra noise per surface</a:t>
            </a:r>
            <a:endParaRPr lang="en-US" sz="1100" dirty="0"/>
          </a:p>
        </p:txBody>
      </p:sp>
      <p:sp>
        <p:nvSpPr>
          <p:cNvPr id="6" name="caption 64"/>
          <p:cNvSpPr txBox="1"/>
          <p:nvPr/>
        </p:nvSpPr>
        <p:spPr>
          <a:xfrm>
            <a:off x="411480" y="58064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red = more depth noise; the lock and case get the most</a:t>
            </a:r>
            <a:endParaRPr lang="en-US" sz="1300" dirty="0"/>
          </a:p>
        </p:txBody>
      </p:sp>
      <p:pic>
        <p:nvPicPr>
          <p:cNvPr id="7" name="img65" descr="inline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5778"/>
            <a:ext cx="2807208" cy="1576355"/>
          </a:xfrm>
          <a:prstGeom prst="rect">
            <a:avLst/>
          </a:prstGeom>
        </p:spPr>
      </p:pic>
      <p:sp>
        <p:nvSpPr>
          <p:cNvPr id="8" name="tag SIM · depth as the graph gets it"/>
          <p:cNvSpPr txBox="1"/>
          <p:nvPr/>
        </p:nvSpPr>
        <p:spPr>
          <a:xfrm>
            <a:off x="6080760" y="1237218"/>
            <a:ext cx="260604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SIM · depth as the graph gets it</a:t>
            </a:r>
            <a:endParaRPr lang="en-US" sz="1100" dirty="0"/>
          </a:p>
        </p:txBody>
      </p:sp>
      <p:pic>
        <p:nvPicPr>
          <p:cNvPr id="9" name="img66" descr="inline_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1145778"/>
            <a:ext cx="2807208" cy="1576355"/>
          </a:xfrm>
          <a:prstGeom prst="rect">
            <a:avLst/>
          </a:prstGeom>
        </p:spPr>
      </p:pic>
      <p:sp>
        <p:nvSpPr>
          <p:cNvPr id="10" name="tag SIM · depth error"/>
          <p:cNvSpPr txBox="1"/>
          <p:nvPr/>
        </p:nvSpPr>
        <p:spPr>
          <a:xfrm>
            <a:off x="9061704" y="1237218"/>
            <a:ext cx="144018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SIM · depth error</a:t>
            </a:r>
            <a:endParaRPr lang="en-US" sz="1100" dirty="0"/>
          </a:p>
        </p:txBody>
      </p:sp>
      <p:sp>
        <p:nvSpPr>
          <p:cNvPr id="11" name="caption 67"/>
          <p:cNvSpPr txBox="1"/>
          <p:nvPr/>
        </p:nvSpPr>
        <p:spPr>
          <a:xfrm>
            <a:off x="5989320" y="2971800"/>
            <a:ext cx="5788152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Shiny </a:t>
            </a:r>
            <a:r>
              <a:rPr lang="en-US" sz="1700" dirty="0">
                <a:solidFill>
                  <a:schemeClr val="tx1"/>
                </a:solidFill>
              </a:rPr>
              <a:t>surfaces: noise ×2.6 · 25% holes · 65% far-off readings</a:t>
            </a:r>
            <a:endParaRPr lang="en-US" sz="17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Dark </a:t>
            </a:r>
            <a:r>
              <a:rPr lang="en-US" sz="1700" dirty="0">
                <a:solidFill>
                  <a:schemeClr val="tx1"/>
                </a:solidFill>
              </a:rPr>
              <a:t>surfaces: 20% holes</a:t>
            </a:r>
            <a:endParaRPr lang="en-US" sz="17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Distance: </a:t>
            </a:r>
            <a:r>
              <a:rPr lang="en-US" sz="1700" dirty="0">
                <a:solidFill>
                  <a:schemeClr val="tx1"/>
                </a:solidFill>
              </a:rPr>
              <a:t>noise grows with range; holes at depth jumps and too near</a:t>
            </a:r>
            <a:endParaRPr lang="en-US" sz="17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Calibration </a:t>
            </a:r>
            <a:r>
              <a:rPr lang="en-US" sz="1700" dirty="0">
                <a:solidFill>
                  <a:schemeClr val="tx1"/>
                </a:solidFill>
              </a:rPr>
              <a:t>~2× real: fixed cams 0.6° / 4 mm · wrists 1.2° / 3 mm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 RGB: every episode gets a new look</a:t>
            </a:r>
            <a:endParaRPr lang="en-US" sz="2800" dirty="0"/>
          </a:p>
        </p:txBody>
      </p:sp>
      <p:pic>
        <p:nvPicPr>
          <p:cNvPr id="4" name="img68" descr="inline_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1333"/>
            <a:ext cx="2743200" cy="1540111"/>
          </a:xfrm>
          <a:prstGeom prst="rect">
            <a:avLst/>
          </a:prstGeom>
        </p:spPr>
      </p:pic>
      <p:sp>
        <p:nvSpPr>
          <p:cNvPr id="5" name="tag REAL · ZED"/>
          <p:cNvSpPr txBox="1"/>
          <p:nvPr/>
        </p:nvSpPr>
        <p:spPr>
          <a:xfrm>
            <a:off x="512064" y="1246197"/>
            <a:ext cx="896112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ZED</a:t>
            </a:r>
            <a:endParaRPr lang="en-US" sz="1100" dirty="0"/>
          </a:p>
        </p:txBody>
      </p:sp>
      <p:pic>
        <p:nvPicPr>
          <p:cNvPr id="6" name="img69" descr="inlin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189863"/>
            <a:ext cx="2743200" cy="1543050"/>
          </a:xfrm>
          <a:prstGeom prst="rect">
            <a:avLst/>
          </a:prstGeom>
        </p:spPr>
      </p:pic>
      <p:sp>
        <p:nvSpPr>
          <p:cNvPr id="7" name="tag SIM · seed 0 = real look"/>
          <p:cNvSpPr txBox="1"/>
          <p:nvPr/>
        </p:nvSpPr>
        <p:spPr>
          <a:xfrm>
            <a:off x="3355848" y="1244727"/>
            <a:ext cx="198424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SIM · seed 0 = real look</a:t>
            </a:r>
            <a:endParaRPr lang="en-US" sz="1100" dirty="0"/>
          </a:p>
        </p:txBody>
      </p:sp>
      <p:pic>
        <p:nvPicPr>
          <p:cNvPr id="8" name="img70" descr="inline_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189863"/>
            <a:ext cx="2743200" cy="1543050"/>
          </a:xfrm>
          <a:prstGeom prst="rect">
            <a:avLst/>
          </a:prstGeom>
        </p:spPr>
      </p:pic>
      <p:sp>
        <p:nvSpPr>
          <p:cNvPr id="9" name="tag seed 1"/>
          <p:cNvSpPr txBox="1"/>
          <p:nvPr/>
        </p:nvSpPr>
        <p:spPr>
          <a:xfrm>
            <a:off x="6199632" y="1244727"/>
            <a:ext cx="58521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seed 1</a:t>
            </a:r>
            <a:endParaRPr lang="en-US" sz="1100" dirty="0"/>
          </a:p>
        </p:txBody>
      </p:sp>
      <p:pic>
        <p:nvPicPr>
          <p:cNvPr id="10" name="img71" descr="inline_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1189863"/>
            <a:ext cx="2743200" cy="1543050"/>
          </a:xfrm>
          <a:prstGeom prst="rect">
            <a:avLst/>
          </a:prstGeom>
        </p:spPr>
      </p:pic>
      <p:sp>
        <p:nvSpPr>
          <p:cNvPr id="11" name="tag seed 2"/>
          <p:cNvSpPr txBox="1"/>
          <p:nvPr/>
        </p:nvSpPr>
        <p:spPr>
          <a:xfrm>
            <a:off x="9043416" y="1244727"/>
            <a:ext cx="58521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seed 2</a:t>
            </a:r>
            <a:endParaRPr lang="en-US" sz="1100" dirty="0"/>
          </a:p>
        </p:txBody>
      </p:sp>
      <p:pic>
        <p:nvPicPr>
          <p:cNvPr id="12" name="img72" descr="inline_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09519"/>
            <a:ext cx="2743200" cy="1543050"/>
          </a:xfrm>
          <a:prstGeom prst="rect">
            <a:avLst/>
          </a:prstGeom>
        </p:spPr>
      </p:pic>
      <p:sp>
        <p:nvSpPr>
          <p:cNvPr id="13" name="tag seed 3"/>
          <p:cNvSpPr txBox="1"/>
          <p:nvPr/>
        </p:nvSpPr>
        <p:spPr>
          <a:xfrm>
            <a:off x="512064" y="3064383"/>
            <a:ext cx="58521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seed 3</a:t>
            </a:r>
            <a:endParaRPr lang="en-US" sz="1100" dirty="0"/>
          </a:p>
        </p:txBody>
      </p:sp>
      <p:pic>
        <p:nvPicPr>
          <p:cNvPr id="14" name="img73" descr="inline_0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984" y="3009519"/>
            <a:ext cx="2743200" cy="1543050"/>
          </a:xfrm>
          <a:prstGeom prst="rect">
            <a:avLst/>
          </a:prstGeom>
        </p:spPr>
      </p:pic>
      <p:sp>
        <p:nvSpPr>
          <p:cNvPr id="15" name="tag seed 4"/>
          <p:cNvSpPr txBox="1"/>
          <p:nvPr/>
        </p:nvSpPr>
        <p:spPr>
          <a:xfrm>
            <a:off x="3355848" y="3064383"/>
            <a:ext cx="58521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seed 4</a:t>
            </a:r>
            <a:endParaRPr lang="en-US" sz="1100" dirty="0"/>
          </a:p>
        </p:txBody>
      </p:sp>
      <p:pic>
        <p:nvPicPr>
          <p:cNvPr id="16" name="img74" descr="inline_0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3009519"/>
            <a:ext cx="2743200" cy="1543050"/>
          </a:xfrm>
          <a:prstGeom prst="rect">
            <a:avLst/>
          </a:prstGeom>
        </p:spPr>
      </p:pic>
      <p:sp>
        <p:nvSpPr>
          <p:cNvPr id="17" name="tag seed 5"/>
          <p:cNvSpPr txBox="1"/>
          <p:nvPr/>
        </p:nvSpPr>
        <p:spPr>
          <a:xfrm>
            <a:off x="6199632" y="3064383"/>
            <a:ext cx="58521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seed 5</a:t>
            </a:r>
            <a:endParaRPr lang="en-US" sz="1100" dirty="0"/>
          </a:p>
        </p:txBody>
      </p:sp>
      <p:pic>
        <p:nvPicPr>
          <p:cNvPr id="18" name="img75" descr="inline_0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8552" y="3009519"/>
            <a:ext cx="2743200" cy="1543050"/>
          </a:xfrm>
          <a:prstGeom prst="rect">
            <a:avLst/>
          </a:prstGeom>
        </p:spPr>
      </p:pic>
      <p:sp>
        <p:nvSpPr>
          <p:cNvPr id="19" name="tag seed 6"/>
          <p:cNvSpPr txBox="1"/>
          <p:nvPr/>
        </p:nvSpPr>
        <p:spPr>
          <a:xfrm>
            <a:off x="9043416" y="3064383"/>
            <a:ext cx="58521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seed 6</a:t>
            </a:r>
            <a:endParaRPr lang="en-US" sz="1100" dirty="0"/>
          </a:p>
        </p:txBody>
      </p:sp>
      <p:sp>
        <p:nvSpPr>
          <p:cNvPr id="20" name="caption 76"/>
          <p:cNvSpPr txBox="1"/>
          <p:nvPr/>
        </p:nvSpPr>
        <p:spPr>
          <a:xfrm>
            <a:off x="457200" y="4892040"/>
            <a:ext cx="55778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Colours </a:t>
            </a:r>
            <a:r>
              <a:rPr lang="en-US" sz="1400" dirty="0">
                <a:solidFill>
                  <a:schemeClr val="tx1"/>
                </a:solidFill>
              </a:rPr>
              <a:t>of case, bezel, tab, lock, riser, table, floor; flat to glossy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Patterns </a:t>
            </a:r>
            <a:r>
              <a:rPr lang="en-US" sz="1400" dirty="0">
                <a:solidFill>
                  <a:schemeClr val="tx1"/>
                </a:solidFill>
              </a:rPr>
              <a:t>on mat and backdrop, mixed with the real ones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Key: </a:t>
            </a:r>
            <a:r>
              <a:rPr lang="en-US" sz="1400" dirty="0">
                <a:solidFill>
                  <a:schemeClr val="tx1"/>
                </a:solidFill>
              </a:rPr>
              <a:t>any dark head; silver to brass metal</a:t>
            </a:r>
            <a:endParaRPr lang="en-US" sz="1400" dirty="0"/>
          </a:p>
        </p:txBody>
      </p:sp>
      <p:sp>
        <p:nvSpPr>
          <p:cNvPr id="21" name="caption 77"/>
          <p:cNvSpPr txBox="1"/>
          <p:nvPr/>
        </p:nvSpPr>
        <p:spPr>
          <a:xfrm>
            <a:off x="6199632" y="4892040"/>
            <a:ext cx="55321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Lights: </a:t>
            </a:r>
            <a:r>
              <a:rPr lang="en-US" sz="1400" dirty="0">
                <a:solidFill>
                  <a:schemeClr val="tx1"/>
                </a:solidFill>
              </a:rPr>
              <a:t>35–90° up, 0.3–1.0, 3200–6500 K, shadows half the time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Camera: </a:t>
            </a:r>
            <a:r>
              <a:rPr lang="en-US" sz="1400" dirty="0">
                <a:solidFill>
                  <a:schemeClr val="tx1"/>
                </a:solidFill>
              </a:rPr>
              <a:t>gain 0.93–1.07, brightness ±12, exposure ±6%, noise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Robot-fit calibration beat the checkerboard</a:t>
            </a:r>
            <a:endParaRPr lang="en-US" sz="2800" dirty="0"/>
          </a:p>
        </p:txBody>
      </p:sp>
      <p:pic>
        <p:nvPicPr>
          <p:cNvPr id="4" name="img78" descr="old_pose_014_outline_left_wris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708" y="1188720"/>
            <a:ext cx="3885184" cy="2185416"/>
          </a:xfrm>
          <a:prstGeom prst="rect">
            <a:avLst/>
          </a:prstGeom>
        </p:spPr>
      </p:pic>
      <p:sp>
        <p:nvSpPr>
          <p:cNvPr id="5" name="tag BEFORE · checkerboard"/>
          <p:cNvSpPr txBox="1"/>
          <p:nvPr/>
        </p:nvSpPr>
        <p:spPr>
          <a:xfrm>
            <a:off x="549148" y="1280160"/>
            <a:ext cx="1751076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BEFORE · checkerboard</a:t>
            </a:r>
            <a:endParaRPr lang="en-US" sz="1100" dirty="0"/>
          </a:p>
        </p:txBody>
      </p:sp>
      <p:pic>
        <p:nvPicPr>
          <p:cNvPr id="6" name="img79" descr="new_pose_014_outline_left_wr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068" y="1188720"/>
            <a:ext cx="3885184" cy="2185416"/>
          </a:xfrm>
          <a:prstGeom prst="rect">
            <a:avLst/>
          </a:prstGeom>
        </p:spPr>
      </p:pic>
      <p:sp>
        <p:nvSpPr>
          <p:cNvPr id="7" name="tag AFTER · robot-fit"/>
          <p:cNvSpPr txBox="1"/>
          <p:nvPr/>
        </p:nvSpPr>
        <p:spPr>
          <a:xfrm>
            <a:off x="4572508" y="1280160"/>
            <a:ext cx="144018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AFTER · robot-fit</a:t>
            </a:r>
            <a:endParaRPr lang="en-US" sz="1100" dirty="0"/>
          </a:p>
        </p:txBody>
      </p:sp>
      <p:pic>
        <p:nvPicPr>
          <p:cNvPr id="8" name="img80" descr="old_pose_014_outline_zed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08" y="3520440"/>
            <a:ext cx="3885184" cy="2185416"/>
          </a:xfrm>
          <a:prstGeom prst="rect">
            <a:avLst/>
          </a:prstGeom>
        </p:spPr>
      </p:pic>
      <p:sp>
        <p:nvSpPr>
          <p:cNvPr id="9" name="tag BEFORE"/>
          <p:cNvSpPr txBox="1"/>
          <p:nvPr/>
        </p:nvSpPr>
        <p:spPr>
          <a:xfrm>
            <a:off x="549148" y="3611880"/>
            <a:ext cx="585216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BEFORE</a:t>
            </a:r>
            <a:endParaRPr lang="en-US" sz="1100" dirty="0"/>
          </a:p>
        </p:txBody>
      </p:sp>
      <p:pic>
        <p:nvPicPr>
          <p:cNvPr id="10" name="img81" descr="new_pose_014_outline_zed_lef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068" y="3520440"/>
            <a:ext cx="3885184" cy="2185416"/>
          </a:xfrm>
          <a:prstGeom prst="rect">
            <a:avLst/>
          </a:prstGeom>
        </p:spPr>
      </p:pic>
      <p:sp>
        <p:nvSpPr>
          <p:cNvPr id="11" name="tag AFTER"/>
          <p:cNvSpPr txBox="1"/>
          <p:nvPr/>
        </p:nvSpPr>
        <p:spPr>
          <a:xfrm>
            <a:off x="4572508" y="3611880"/>
            <a:ext cx="507492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AFTER</a:t>
            </a:r>
            <a:endParaRPr lang="en-US" sz="1100" dirty="0"/>
          </a:p>
        </p:txBody>
      </p:sp>
      <p:sp>
        <p:nvSpPr>
          <p:cNvPr id="12" name="stat 82"/>
          <p:cNvSpPr txBox="1"/>
          <p:nvPr/>
        </p:nvSpPr>
        <p:spPr>
          <a:xfrm>
            <a:off x="8686800" y="11887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 → 0.75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finger IoU, left wrist</a:t>
            </a:r>
            <a:endParaRPr lang="en-US" sz="4000" dirty="0"/>
          </a:p>
        </p:txBody>
      </p:sp>
      <p:sp>
        <p:nvSpPr>
          <p:cNvPr id="13" name="stat 83"/>
          <p:cNvSpPr txBox="1"/>
          <p:nvPr/>
        </p:nvSpPr>
        <p:spPr>
          <a:xfrm>
            <a:off x="8686800" y="242316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 → 0.66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finger IoU, ZED grippers</a:t>
            </a:r>
            <a:endParaRPr lang="en-US" sz="4000" dirty="0"/>
          </a:p>
        </p:txBody>
      </p:sp>
      <p:sp>
        <p:nvSpPr>
          <p:cNvPr id="14" name="stat 84"/>
          <p:cNvSpPr txBox="1"/>
          <p:nvPr/>
        </p:nvSpPr>
        <p:spPr>
          <a:xfrm>
            <a:off x="8686800" y="365760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 → 6.6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mm wrist-vs-wrist disagreement</a:t>
            </a:r>
            <a:endParaRPr lang="en-US" sz="4000" dirty="0"/>
          </a:p>
        </p:txBody>
      </p:sp>
      <p:sp>
        <p:nvSpPr>
          <p:cNvPr id="15" name="caption 85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Real errors: </a:t>
            </a:r>
            <a:r>
              <a:rPr lang="en-US" sz="1400" dirty="0">
                <a:solidFill>
                  <a:schemeClr val="tx1"/>
                </a:solidFill>
              </a:rPr>
              <a:t>ZED 4.3 · left wrist 3.4 · right wrist 5.1 mm: sim errors set ≥ real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from the right wrist; rebuild the lock face from the real one</a:t>
            </a:r>
            <a:endParaRPr lang="en-US" sz="2800" dirty="0"/>
          </a:p>
        </p:txBody>
      </p:sp>
      <p:pic>
        <p:nvPicPr>
          <p:cNvPr id="4" name="img86" descr="inline_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4857"/>
            <a:ext cx="4617720" cy="2510885"/>
          </a:xfrm>
          <a:prstGeom prst="rect">
            <a:avLst/>
          </a:prstGeom>
        </p:spPr>
      </p:pic>
      <p:sp>
        <p:nvSpPr>
          <p:cNvPr id="5" name="tag BEFORE · old twin outlines"/>
          <p:cNvSpPr txBox="1"/>
          <p:nvPr/>
        </p:nvSpPr>
        <p:spPr>
          <a:xfrm>
            <a:off x="502920" y="1236297"/>
            <a:ext cx="2139696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BEFORE · old twin outlines</a:t>
            </a:r>
            <a:endParaRPr lang="en-US" sz="1100" dirty="0"/>
          </a:p>
        </p:txBody>
      </p:sp>
      <p:pic>
        <p:nvPicPr>
          <p:cNvPr id="6" name="img87" descr="inlin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44857"/>
            <a:ext cx="4617720" cy="2510885"/>
          </a:xfrm>
          <a:prstGeom prst="rect">
            <a:avLst/>
          </a:prstGeom>
        </p:spPr>
      </p:pic>
      <p:sp>
        <p:nvSpPr>
          <p:cNvPr id="7" name="tag AFTER · rebuilt face"/>
          <p:cNvSpPr txBox="1"/>
          <p:nvPr/>
        </p:nvSpPr>
        <p:spPr>
          <a:xfrm>
            <a:off x="5257800" y="1236297"/>
            <a:ext cx="1673352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AFTER · rebuilt face</a:t>
            </a:r>
            <a:endParaRPr lang="en-US" sz="1100" dirty="0"/>
          </a:p>
        </p:txBody>
      </p:sp>
      <p:pic>
        <p:nvPicPr>
          <p:cNvPr id="8" name="img88" descr="before_tabcrop_0021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9948"/>
            <a:ext cx="4617720" cy="1943137"/>
          </a:xfrm>
          <a:prstGeom prst="rect">
            <a:avLst/>
          </a:prstGeom>
        </p:spPr>
      </p:pic>
      <p:sp>
        <p:nvSpPr>
          <p:cNvPr id="9" name="tag BEFORE · tab drawn too high"/>
          <p:cNvSpPr txBox="1"/>
          <p:nvPr/>
        </p:nvSpPr>
        <p:spPr>
          <a:xfrm>
            <a:off x="502920" y="4391388"/>
            <a:ext cx="2217420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BEFORE · tab drawn too high</a:t>
            </a:r>
            <a:endParaRPr lang="en-US" sz="1100" dirty="0"/>
          </a:p>
        </p:txBody>
      </p:sp>
      <p:pic>
        <p:nvPicPr>
          <p:cNvPr id="10" name="img89" descr="run_002132_0020_step00917_right_wrist_tab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4299948"/>
            <a:ext cx="4617720" cy="1943137"/>
          </a:xfrm>
          <a:prstGeom prst="rect">
            <a:avLst/>
          </a:prstGeom>
        </p:spPr>
      </p:pic>
      <p:sp>
        <p:nvSpPr>
          <p:cNvPr id="11" name="tag AFTER · maker-photo fit"/>
          <p:cNvSpPr txBox="1"/>
          <p:nvPr/>
        </p:nvSpPr>
        <p:spPr>
          <a:xfrm>
            <a:off x="5257800" y="4391388"/>
            <a:ext cx="1906524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AFTER · maker-photo fit</a:t>
            </a:r>
            <a:endParaRPr lang="en-US" sz="1100" dirty="0"/>
          </a:p>
        </p:txBody>
      </p:sp>
      <p:sp>
        <p:nvSpPr>
          <p:cNvPr id="12" name="caption 90"/>
          <p:cNvSpPr txBox="1"/>
          <p:nvPr/>
        </p:nvSpPr>
        <p:spPr>
          <a:xfrm>
            <a:off x="9966960" y="1234440"/>
            <a:ext cx="1810512" cy="4937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2–5 mm </a:t>
            </a:r>
            <a:r>
              <a:rPr lang="en-US" sz="1500" dirty="0">
                <a:solidFill>
                  <a:schemeClr val="tx1"/>
                </a:solidFill>
              </a:rPr>
              <a:t>aim error: detector flipped 25 ↔ 32 mm</a:t>
            </a:r>
            <a:endParaRPr lang="en-US" sz="1500" dirty="0"/>
          </a:p>
          <a:p>
            <a:pPr marL="0" indent="0" algn="l">
              <a:spcAft>
                <a:spcPts val="2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0.1–0.2 mm </a:t>
            </a:r>
            <a:r>
              <a:rPr lang="en-US" sz="1500" dirty="0">
                <a:solidFill>
                  <a:schemeClr val="tx1"/>
                </a:solidFill>
              </a:rPr>
              <a:t>noise: right-wrist eye-in-hand look</a:t>
            </a:r>
            <a:endParaRPr lang="en-US" sz="1500" dirty="0"/>
          </a:p>
          <a:p>
            <a:pPr marL="0" indent="0" algn="l">
              <a:spcAft>
                <a:spcPts val="2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1–3 mm </a:t>
            </a:r>
            <a:r>
              <a:rPr lang="en-US" sz="1500" dirty="0">
                <a:solidFill>
                  <a:schemeClr val="tx1"/>
                </a:solidFill>
              </a:rPr>
              <a:t>outline fit; bezel 3.8 → 2.9 px, 4.9 → 3.7 px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51460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Physics</a:t>
            </a:r>
            <a:endParaRPr lang="en-US" sz="44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548640" y="361188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Five problems, each before → after</a:t>
            </a:r>
            <a:endParaRPr lang="en-US" sz="1800" dirty="0"/>
          </a:p>
        </p:txBody>
      </p:sp>
      <p:sp>
        <p:nvSpPr>
          <p:cNvPr id="5" name="dot 91"/>
          <p:cNvSpPr/>
          <p:nvPr/>
        </p:nvSpPr>
        <p:spPr>
          <a:xfrm>
            <a:off x="7589520" y="109728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dot text 91"/>
          <p:cNvSpPr txBox="1"/>
          <p:nvPr/>
        </p:nvSpPr>
        <p:spPr>
          <a:xfrm>
            <a:off x="7589520" y="10972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10972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key falls over</a:t>
            </a:r>
            <a:endParaRPr lang="en-US" sz="2000" dirty="0"/>
          </a:p>
        </p:txBody>
      </p:sp>
      <p:sp>
        <p:nvSpPr>
          <p:cNvPr id="8" name="dot 92"/>
          <p:cNvSpPr/>
          <p:nvPr/>
        </p:nvSpPr>
        <p:spPr>
          <a:xfrm>
            <a:off x="7589520" y="205740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dot text 92"/>
          <p:cNvSpPr txBox="1"/>
          <p:nvPr/>
        </p:nvSpPr>
        <p:spPr>
          <a:xfrm>
            <a:off x="7589520" y="2057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05740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key slips in the fingers</a:t>
            </a:r>
            <a:endParaRPr lang="en-US" sz="2000" dirty="0"/>
          </a:p>
        </p:txBody>
      </p:sp>
      <p:sp>
        <p:nvSpPr>
          <p:cNvPr id="11" name="dot 93"/>
          <p:cNvSpPr/>
          <p:nvPr/>
        </p:nvSpPr>
        <p:spPr>
          <a:xfrm>
            <a:off x="7589520" y="301752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dot text 93"/>
          <p:cNvSpPr txBox="1"/>
          <p:nvPr/>
        </p:nvSpPr>
        <p:spPr>
          <a:xfrm>
            <a:off x="7589520" y="3017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3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0175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Insertion friction</a:t>
            </a:r>
            <a:endParaRPr lang="en-US" sz="2000" dirty="0"/>
          </a:p>
        </p:txBody>
      </p:sp>
      <p:sp>
        <p:nvSpPr>
          <p:cNvPr id="14" name="dot 94"/>
          <p:cNvSpPr/>
          <p:nvPr/>
        </p:nvSpPr>
        <p:spPr>
          <a:xfrm>
            <a:off x="7589520" y="397764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dot text 94"/>
          <p:cNvSpPr txBox="1"/>
          <p:nvPr/>
        </p:nvSpPr>
        <p:spPr>
          <a:xfrm>
            <a:off x="7589520" y="3977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4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9776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box is shoved off / flips</a:t>
            </a:r>
            <a:endParaRPr lang="en-US" sz="2000" dirty="0"/>
          </a:p>
        </p:txBody>
      </p:sp>
      <p:sp>
        <p:nvSpPr>
          <p:cNvPr id="17" name="dot 95"/>
          <p:cNvSpPr/>
          <p:nvPr/>
        </p:nvSpPr>
        <p:spPr>
          <a:xfrm>
            <a:off x="7589520" y="4937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dot text 95"/>
          <p:cNvSpPr txBox="1"/>
          <p:nvPr/>
        </p:nvSpPr>
        <p:spPr>
          <a:xfrm>
            <a:off x="7589520" y="4937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5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49377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Pressing the tab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n_keyfall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63" y="1143000"/>
            <a:ext cx="11156426" cy="4846319"/>
          </a:xfrm>
          <a:prstGeom prst="rect">
            <a:avLst/>
          </a:prstGeom>
        </p:spPr>
      </p:pic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The key fell over → now it stands on its head</a:t>
            </a:r>
            <a:endParaRPr lang="en-US" sz="2800" dirty="0"/>
          </a:p>
        </p:txBody>
      </p:sp>
      <p:sp>
        <p:nvSpPr>
          <p:cNvPr id="5" name="caption 96"/>
          <p:cNvSpPr txBox="1"/>
          <p:nvPr/>
        </p:nvSpPr>
        <p:spPr>
          <a:xfrm>
            <a:off x="411480" y="5989320"/>
            <a:ext cx="1136599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28° → 0° </a:t>
            </a:r>
            <a:r>
              <a:rPr lang="en-US" sz="1500" dirty="0">
                <a:solidFill>
                  <a:schemeClr val="tx1"/>
                </a:solidFill>
              </a:rPr>
              <a:t>how far the placed key tips (sim, same seed)  ·  </a:t>
            </a:r>
            <a:r>
              <a:rPr lang="en-US" sz="1500" b="1" dirty="0">
                <a:solidFill>
                  <a:schemeClr val="accent1"/>
                </a:solidFill>
              </a:rPr>
              <a:t>7 of 20 </a:t>
            </a:r>
            <a:r>
              <a:rPr lang="en-US" sz="1500" dirty="0">
                <a:solidFill>
                  <a:schemeClr val="tx1"/>
                </a:solidFill>
              </a:rPr>
              <a:t>real6b final failures were holders toppling at reset → holder shape capped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The key slipped in the fingers → held firm now</a:t>
            </a:r>
            <a:endParaRPr lang="en-US" sz="2800" dirty="0"/>
          </a:p>
        </p:txBody>
      </p:sp>
      <p:sp>
        <p:nvSpPr>
          <p:cNvPr id="9" name="caption 98"/>
          <p:cNvSpPr txBox="1"/>
          <p:nvPr/>
        </p:nvSpPr>
        <p:spPr>
          <a:xfrm>
            <a:off x="411480" y="5440680"/>
            <a:ext cx="11365992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sz="1500" b="1">
                <a:solidFill>
                  <a:srgbClr val="B4472F"/>
                </a:solidFill>
              </a:rPr>
              <a:t>Before (sim): </a:t>
            </a:r>
            <a:r>
              <a:rPr sz="1500" b="0"/>
              <a:t>weak ~9 N squeeze, edgy fingertips: by the lock the key (orange) had slid 29 mm into the hand.</a:t>
            </a:r>
            <a:endParaRPr lang="en-US" sz="1500" dirty="0"/>
          </a:p>
          <a:p>
            <a:r>
              <a:rPr sz="1500" b="1">
                <a:solidFill>
                  <a:srgbClr val="2E7D6B"/>
                </a:solidFill>
              </a:rPr>
              <a:t>Now: </a:t>
            </a:r>
            <a:r>
              <a:rPr sz="1500" b="0"/>
              <a:t>flat pads, 35–40 N squeeze: the key stays at the fingertips (≤ 0.3 mm).</a:t>
            </a:r>
            <a:endParaRPr sz="1500" b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Picture 25" descr="old_9000101_2_at_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54430"/>
            <a:ext cx="5577840" cy="4183379"/>
          </a:xfrm>
          <a:prstGeom prst="rect">
            <a:avLst/>
          </a:prstGeom>
        </p:spPr>
      </p:pic>
      <p:pic>
        <p:nvPicPr>
          <p:cNvPr id="27" name="Picture 26" descr="new_9000101_2_at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154430"/>
            <a:ext cx="5577840" cy="418337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21208" y="1264157"/>
            <a:ext cx="2121408" cy="329184"/>
          </a:xfrm>
          <a:prstGeom prst="roundRect">
            <a:avLst/>
          </a:prstGeom>
          <a:solidFill>
            <a:srgbClr val="B44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BEFORE · old sim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09360" y="1264157"/>
            <a:ext cx="1572767" cy="329184"/>
          </a:xfrm>
          <a:prstGeom prst="round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AFTER · now</a:t>
            </a:r>
            <a:endParaRPr sz="1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n_stuck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19"/>
            <a:ext cx="4937760" cy="4114800"/>
          </a:xfrm>
          <a:prstGeom prst="rect">
            <a:avLst/>
          </a:prstGeom>
        </p:spPr>
      </p:pic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Insertion friction: a little friction when the key is not aligned</a:t>
            </a:r>
            <a:endParaRPr lang="en-US" sz="2800" dirty="0"/>
          </a:p>
        </p:txBody>
      </p:sp>
      <p:sp>
        <p:nvSpPr>
          <p:cNvPr id="5" name="tag REAL · run_015204, stuck"/>
          <p:cNvSpPr txBox="1"/>
          <p:nvPr/>
        </p:nvSpPr>
        <p:spPr>
          <a:xfrm>
            <a:off x="548640" y="1737359"/>
            <a:ext cx="1984248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run_015204, stuck</a:t>
            </a:r>
            <a:endParaRPr lang="en-US" sz="1100" dirty="0"/>
          </a:p>
        </p:txBody>
      </p:sp>
      <p:sp>
        <p:nvSpPr>
          <p:cNvPr id="9" name="caption 100"/>
          <p:cNvSpPr txBox="1"/>
          <p:nvPr/>
        </p:nvSpPr>
        <p:spPr>
          <a:xfrm>
            <a:off x="5623560" y="3977639"/>
            <a:ext cx="61264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>
                <a:solidFill>
                  <a:srgbClr val="2E7D6B"/>
                </a:solidFill>
              </a:rPr>
              <a:t>Edited </a:t>
            </a:r>
            <a:r>
              <a:rPr sz="1600" b="0"/>
              <a:t>so that when the key is not well aligned, a small friction holds it, which encourages wiggling.</a:t>
            </a:r>
            <a:endParaRPr lang="en-US" sz="1300" dirty="0"/>
          </a:p>
          <a:p>
            <a:r>
              <a:rPr sz="1600" b="1">
                <a:solidFill>
                  <a:srgbClr val="B4472F"/>
                </a:solidFill>
              </a:rPr>
              <a:t>Real: </a:t>
            </a:r>
            <a:r>
              <a:rPr sz="1600" b="0"/>
              <a:t>the key stuck at a pin ~10 mm in and was freed by rocking (teleop: stuck 7–28 s until rocked).</a:t>
            </a:r>
            <a:endParaRPr sz="1600" b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7" name="Picture 26" descr="n_inse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56911"/>
            <a:ext cx="6126480" cy="22811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n_box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2854"/>
            <a:ext cx="11274550" cy="4197971"/>
          </a:xfrm>
          <a:prstGeom prst="rect">
            <a:avLst/>
          </a:prstGeom>
        </p:spPr>
      </p:pic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The box was shoved off its riser and flipped → held now</a:t>
            </a:r>
            <a:endParaRPr lang="en-US" sz="2800" dirty="0"/>
          </a:p>
        </p:txBody>
      </p:sp>
      <p:sp>
        <p:nvSpPr>
          <p:cNvPr id="5" name="stat 101"/>
          <p:cNvSpPr txBox="1"/>
          <p:nvPr/>
        </p:nvSpPr>
        <p:spPr>
          <a:xfrm>
            <a:off x="457200" y="548640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 mm, 92°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box shoved and flipped (before)</a:t>
            </a:r>
            <a:endParaRPr lang="en-US" sz="4000" dirty="0"/>
          </a:p>
        </p:txBody>
      </p:sp>
      <p:sp>
        <p:nvSpPr>
          <p:cNvPr id="6" name="stat 102"/>
          <p:cNvSpPr txBox="1"/>
          <p:nvPr/>
        </p:nvSpPr>
        <p:spPr>
          <a:xfrm>
            <a:off x="6199632" y="5486400"/>
            <a:ext cx="55321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 mm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box motion in a full episode (after)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Pressing the tab: a recessed tab with a stiff point</a:t>
            </a:r>
            <a:endParaRPr lang="en-US" sz="2800" dirty="0"/>
          </a:p>
        </p:txBody>
      </p:sp>
      <p:pic>
        <p:nvPicPr>
          <p:cNvPr id="4" name="img103" descr="n_pressmis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3108960" cy="2487168"/>
          </a:xfrm>
          <a:prstGeom prst="rect">
            <a:avLst/>
          </a:prstGeom>
        </p:spPr>
      </p:pic>
      <p:sp>
        <p:nvSpPr>
          <p:cNvPr id="5" name="tag REAL · run_004108"/>
          <p:cNvSpPr txBox="1"/>
          <p:nvPr/>
        </p:nvSpPr>
        <p:spPr>
          <a:xfrm>
            <a:off x="502920" y="1234440"/>
            <a:ext cx="1440180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run_004108</a:t>
            </a:r>
            <a:endParaRPr lang="en-US" sz="1100" dirty="0"/>
          </a:p>
        </p:txBody>
      </p:sp>
      <p:pic>
        <p:nvPicPr>
          <p:cNvPr id="6" name="img104" descr="n_bor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776472"/>
            <a:ext cx="3108960" cy="2487168"/>
          </a:xfrm>
          <a:prstGeom prst="rect">
            <a:avLst/>
          </a:prstGeom>
        </p:spPr>
      </p:pic>
      <p:sp>
        <p:nvSpPr>
          <p:cNvPr id="7" name="tag REAL · run_012830"/>
          <p:cNvSpPr txBox="1"/>
          <p:nvPr/>
        </p:nvSpPr>
        <p:spPr>
          <a:xfrm>
            <a:off x="502920" y="3867912"/>
            <a:ext cx="1440180" cy="27432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REAL · run_012830</a:t>
            </a:r>
            <a:endParaRPr lang="en-US" sz="1100" dirty="0"/>
          </a:p>
        </p:txBody>
      </p:sp>
      <p:sp>
        <p:nvSpPr>
          <p:cNvPr id="10" name="caption 105"/>
          <p:cNvSpPr txBox="1"/>
          <p:nvPr/>
        </p:nvSpPr>
        <p:spPr>
          <a:xfrm>
            <a:off x="3703320" y="4663440"/>
            <a:ext cx="8074152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Before: </a:t>
            </a:r>
            <a:r>
              <a:rPr lang="en-US" sz="1600" dirty="0">
                <a:solidFill>
                  <a:schemeClr val="tx1"/>
                </a:solidFill>
              </a:rPr>
              <a:t>6 mm button, 700 N/m, a proud ledge the real box doesn't have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Now: </a:t>
            </a:r>
            <a:r>
              <a:rPr lang="en-US" sz="1600" dirty="0">
                <a:solidFill>
                  <a:schemeClr val="tx1"/>
                </a:solidFill>
              </a:rPr>
              <a:t>stiff point at ~5 mm, ~17 mm travel to a hard bottom, latch at 95–98%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13 mm </a:t>
            </a:r>
            <a:r>
              <a:rPr lang="en-US" sz="1600" dirty="0">
                <a:solidFill>
                  <a:schemeClr val="tx1"/>
                </a:solidFill>
              </a:rPr>
              <a:t>room above the real tab; real misses: border catch, recess slip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Picture 25" descr="n_press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20165"/>
            <a:ext cx="3977639" cy="2983229"/>
          </a:xfrm>
          <a:prstGeom prst="rect">
            <a:avLst/>
          </a:prstGeom>
        </p:spPr>
      </p:pic>
      <p:pic>
        <p:nvPicPr>
          <p:cNvPr id="27" name="Picture 26" descr="n_press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1" y="1320165"/>
            <a:ext cx="3977639" cy="29832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helps ground the physics?</a:t>
            </a:r>
            <a:endParaRPr lang="en-US" sz="2800" dirty="0"/>
          </a:p>
        </p:txBody>
      </p:sp>
      <p:sp>
        <p:nvSpPr>
          <p:cNvPr id="4" name="card 106"/>
          <p:cNvSpPr/>
          <p:nvPr/>
        </p:nvSpPr>
        <p:spPr>
          <a:xfrm>
            <a:off x="411480" y="1143000"/>
            <a:ext cx="3657600" cy="51206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 107"/>
          <p:cNvSpPr/>
          <p:nvPr/>
        </p:nvSpPr>
        <p:spPr>
          <a:xfrm>
            <a:off x="548640" y="1252728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dot text 107"/>
          <p:cNvSpPr txBox="1"/>
          <p:nvPr/>
        </p:nvSpPr>
        <p:spPr>
          <a:xfrm>
            <a:off x="548640" y="12527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0700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Robot runs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successes and failures</a:t>
            </a:r>
            <a:endParaRPr lang="en-US" sz="1800" dirty="0"/>
          </a:p>
        </p:txBody>
      </p:sp>
      <p:sp>
        <p:nvSpPr>
          <p:cNvPr id="8" name="card 108"/>
          <p:cNvSpPr/>
          <p:nvPr/>
        </p:nvSpPr>
        <p:spPr>
          <a:xfrm>
            <a:off x="4265676" y="1143000"/>
            <a:ext cx="3657600" cy="51206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 109"/>
          <p:cNvSpPr/>
          <p:nvPr/>
        </p:nvSpPr>
        <p:spPr>
          <a:xfrm>
            <a:off x="4402836" y="1252728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dot text 109"/>
          <p:cNvSpPr txBox="1"/>
          <p:nvPr/>
        </p:nvSpPr>
        <p:spPr>
          <a:xfrm>
            <a:off x="4402836" y="12527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042916" y="120700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Human demos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teleop, 4 episodes</a:t>
            </a:r>
            <a:endParaRPr lang="en-US" sz="1800" dirty="0"/>
          </a:p>
        </p:txBody>
      </p:sp>
      <p:sp>
        <p:nvSpPr>
          <p:cNvPr id="12" name="card 110"/>
          <p:cNvSpPr/>
          <p:nvPr/>
        </p:nvSpPr>
        <p:spPr>
          <a:xfrm>
            <a:off x="8119872" y="1143000"/>
            <a:ext cx="3657600" cy="51206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t 111"/>
          <p:cNvSpPr/>
          <p:nvPr/>
        </p:nvSpPr>
        <p:spPr>
          <a:xfrm>
            <a:off x="8257032" y="1252728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4" name="dot text 111"/>
          <p:cNvSpPr txBox="1"/>
          <p:nvPr/>
        </p:nvSpPr>
        <p:spPr>
          <a:xfrm>
            <a:off x="8257032" y="12527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897112" y="120700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Language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facts a person tells the builder</a:t>
            </a:r>
            <a:endParaRPr lang="en-US" sz="1800" dirty="0"/>
          </a:p>
        </p:txBody>
      </p:sp>
      <p:pic>
        <p:nvPicPr>
          <p:cNvPr id="16" name="img112" descr="n_stuck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645920" cy="1371600"/>
          </a:xfrm>
          <a:prstGeom prst="rect">
            <a:avLst/>
          </a:prstGeom>
        </p:spPr>
      </p:pic>
      <p:pic>
        <p:nvPicPr>
          <p:cNvPr id="17" name="img113" descr="n_bor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940357"/>
            <a:ext cx="1664208" cy="1331366"/>
          </a:xfrm>
          <a:prstGeom prst="rect">
            <a:avLst/>
          </a:prstGeom>
        </p:spPr>
      </p:pic>
      <p:pic>
        <p:nvPicPr>
          <p:cNvPr id="18" name="img114" descr="run_020911_lid_open_z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56" y="3383280"/>
            <a:ext cx="3381248" cy="1901952"/>
          </a:xfrm>
          <a:prstGeom prst="rect">
            <a:avLst/>
          </a:prstGeom>
        </p:spPr>
      </p:pic>
      <p:sp>
        <p:nvSpPr>
          <p:cNvPr id="19" name="caption 115"/>
          <p:cNvSpPr txBox="1"/>
          <p:nvPr/>
        </p:nvSpPr>
        <p:spPr>
          <a:xfrm>
            <a:off x="548640" y="5376672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Stuck at a pin </a:t>
            </a:r>
            <a:r>
              <a:rPr lang="en-US" sz="1300" dirty="0">
                <a:solidFill>
                  <a:schemeClr val="tx1"/>
                </a:solidFill>
              </a:rPr>
              <a:t>→ pin friction, wiggle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Border / recess </a:t>
            </a:r>
            <a:r>
              <a:rPr lang="en-US" sz="1300" dirty="0">
                <a:solidFill>
                  <a:schemeClr val="tx1"/>
                </a:solidFill>
              </a:rPr>
              <a:t>→ recessed tab, stiff point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run_020911 </a:t>
            </a:r>
            <a:r>
              <a:rPr lang="en-US" sz="1300" dirty="0">
                <a:solidFill>
                  <a:schemeClr val="tx1"/>
                </a:solidFill>
              </a:rPr>
              <a:t>→ the full working sequence</a:t>
            </a:r>
            <a:endParaRPr lang="en-US" sz="1300" dirty="0"/>
          </a:p>
        </p:txBody>
      </p:sp>
      <p:pic>
        <p:nvPicPr>
          <p:cNvPr id="20" name="img116" descr="demo_ep_172800_key_at_hole_r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508" y="1920240"/>
            <a:ext cx="2535936" cy="1901952"/>
          </a:xfrm>
          <a:prstGeom prst="rect">
            <a:avLst/>
          </a:prstGeom>
        </p:spPr>
      </p:pic>
      <p:pic>
        <p:nvPicPr>
          <p:cNvPr id="21" name="img117" descr="demo_ep_172800_key_on_mat_z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996" y="3886200"/>
            <a:ext cx="2600960" cy="1463040"/>
          </a:xfrm>
          <a:prstGeom prst="rect">
            <a:avLst/>
          </a:prstGeom>
        </p:spPr>
      </p:pic>
      <p:sp>
        <p:nvSpPr>
          <p:cNvPr id="22" name="caption 118"/>
          <p:cNvSpPr txBox="1"/>
          <p:nvPr/>
        </p:nvSpPr>
        <p:spPr>
          <a:xfrm>
            <a:off x="4402836" y="5413248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Strategy: </a:t>
            </a:r>
            <a:r>
              <a:rPr lang="en-US" sz="1300" dirty="0">
                <a:solidFill>
                  <a:schemeClr val="tx1"/>
                </a:solidFill>
              </a:rPr>
              <a:t>right arm, grasp from behind, pitched 17–40°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Timings: </a:t>
            </a:r>
            <a:r>
              <a:rPr lang="en-US" sz="1300" dirty="0">
                <a:solidFill>
                  <a:schemeClr val="tx1"/>
                </a:solidFill>
              </a:rPr>
              <a:t>aim right ~1 s · wrong 3–11 s · stuck 7–28 s until rocked</a:t>
            </a:r>
            <a:endParaRPr lang="en-US" sz="1300" dirty="0"/>
          </a:p>
        </p:txBody>
      </p:sp>
      <p:sp>
        <p:nvSpPr>
          <p:cNvPr id="23" name="quote 0"/>
          <p:cNvSpPr txBox="1"/>
          <p:nvPr/>
        </p:nvSpPr>
        <p:spPr>
          <a:xfrm>
            <a:off x="8257032" y="1920240"/>
            <a:ext cx="3383280" cy="932688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chemeClr val="tx1"/>
                </a:solidFill>
              </a:rPr>
              <a:t>“Inserting the key has large friction.”</a:t>
            </a:r>
            <a:endParaRPr lang="en-US" sz="1700" dirty="0"/>
          </a:p>
        </p:txBody>
      </p:sp>
      <p:sp>
        <p:nvSpPr>
          <p:cNvPr id="24" name="quote 1"/>
          <p:cNvSpPr txBox="1"/>
          <p:nvPr/>
        </p:nvSpPr>
        <p:spPr>
          <a:xfrm>
            <a:off x="8257032" y="2999232"/>
            <a:ext cx="3383280" cy="932688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chemeClr val="tx1"/>
                </a:solidFill>
              </a:rPr>
              <a:t>“The button needs a bit of force.”</a:t>
            </a:r>
            <a:endParaRPr lang="en-US" sz="1700" dirty="0"/>
          </a:p>
        </p:txBody>
      </p:sp>
      <p:sp>
        <p:nvSpPr>
          <p:cNvPr id="25" name="quote 2"/>
          <p:cNvSpPr txBox="1"/>
          <p:nvPr/>
        </p:nvSpPr>
        <p:spPr>
          <a:xfrm>
            <a:off x="8257032" y="4078224"/>
            <a:ext cx="3383280" cy="932688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chemeClr val="tx1"/>
                </a:solidFill>
              </a:rPr>
              <a:t>“The box doesn't move.”</a:t>
            </a:r>
            <a:endParaRPr lang="en-US" sz="1700" dirty="0"/>
          </a:p>
        </p:txBody>
      </p:sp>
      <p:sp>
        <p:nvSpPr>
          <p:cNvPr id="26" name="quote 3"/>
          <p:cNvSpPr txBox="1"/>
          <p:nvPr/>
        </p:nvSpPr>
        <p:spPr>
          <a:xfrm>
            <a:off x="8257032" y="5157216"/>
            <a:ext cx="3383280" cy="932688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chemeClr val="tx1"/>
                </a:solidFill>
              </a:rPr>
              <a:t>“The key stands on its head without falling.”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51460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Results</a:t>
            </a:r>
            <a:endParaRPr lang="en-US" sz="44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548640" y="361188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Scripted solver · self-learning agents · the real robot</a:t>
            </a:r>
            <a:endParaRPr lang="en-US" sz="1800" dirty="0"/>
          </a:p>
        </p:txBody>
      </p:sp>
      <p:pic>
        <p:nvPicPr>
          <p:cNvPr id="5" name="img119" descr="rollout1_ope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091690"/>
            <a:ext cx="4754880" cy="26746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doing the task</a:t>
            </a:r>
            <a:endParaRPr lang="en-US" sz="2800" dirty="0"/>
          </a:p>
        </p:txBody>
      </p:sp>
      <p:pic>
        <p:nvPicPr>
          <p:cNvPr id="3" name="video rollout1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11480" y="1464869"/>
            <a:ext cx="5596128" cy="4476902"/>
          </a:xfrm>
          <a:prstGeom prst="rect">
            <a:avLst/>
          </a:prstGeom>
        </p:spPr>
      </p:pic>
      <p:sp>
        <p:nvSpPr>
          <p:cNvPr id="5" name="tag Rollout 1"/>
          <p:cNvSpPr txBox="1"/>
          <p:nvPr/>
        </p:nvSpPr>
        <p:spPr>
          <a:xfrm>
            <a:off x="502920" y="1556309"/>
            <a:ext cx="81838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Rollout 1</a:t>
            </a:r>
            <a:endParaRPr lang="en-US" sz="1100" dirty="0"/>
          </a:p>
        </p:txBody>
      </p:sp>
      <p:pic>
        <p:nvPicPr>
          <p:cNvPr id="6" name="video rollout2c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81344" y="1464869"/>
            <a:ext cx="5596128" cy="4476902"/>
          </a:xfrm>
          <a:prstGeom prst="rect">
            <a:avLst/>
          </a:prstGeom>
        </p:spPr>
      </p:pic>
      <p:sp>
        <p:nvSpPr>
          <p:cNvPr id="7" name="tag Rollout 2"/>
          <p:cNvSpPr txBox="1"/>
          <p:nvPr/>
        </p:nvSpPr>
        <p:spPr>
          <a:xfrm>
            <a:off x="6272784" y="1556309"/>
            <a:ext cx="81838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Rollout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Self-learning vision agents open the box in sim</a:t>
            </a:r>
            <a:endParaRPr lang="en-US" sz="2800" dirty="0"/>
          </a:p>
        </p:txBody>
      </p:sp>
      <p:pic>
        <p:nvPicPr>
          <p:cNvPr id="3" name="video seeded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22195" y="1016635"/>
            <a:ext cx="7544435" cy="5658485"/>
          </a:xfrm>
          <a:prstGeom prst="rect">
            <a:avLst/>
          </a:prstGeom>
        </p:spPr>
      </p:pic>
      <p:sp>
        <p:nvSpPr>
          <p:cNvPr id="5" name="tag SEEDED AGENT · 5x"/>
          <p:cNvSpPr txBox="1"/>
          <p:nvPr/>
        </p:nvSpPr>
        <p:spPr>
          <a:xfrm>
            <a:off x="2506345" y="1225677"/>
            <a:ext cx="144018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SEEDED AGENT · 5x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general recipe for a new task</a:t>
            </a:r>
            <a:endParaRPr lang="en-US" sz="3600" dirty="0"/>
          </a:p>
        </p:txBody>
      </p:sp>
      <p:sp>
        <p:nvSpPr>
          <p:cNvPr id="4" name="dot 125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" name="dot text 125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1371600"/>
            <a:ext cx="1947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Physics priors first</a:t>
            </a:r>
            <a:endParaRPr lang="en-US" sz="1600" dirty="0"/>
          </a:p>
        </p:txBody>
      </p:sp>
      <p:pic>
        <p:nvPicPr>
          <p:cNvPr id="7" name="img126" descr="n_press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4575"/>
            <a:ext cx="2606040" cy="19545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2628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friction · squeeze · stiff points · balance · what is held</a:t>
            </a:r>
            <a:endParaRPr lang="en-US" sz="1500" dirty="0"/>
          </a:p>
        </p:txBody>
      </p:sp>
      <p:sp>
        <p:nvSpPr>
          <p:cNvPr id="9" name="arrow 127"/>
          <p:cNvSpPr/>
          <p:nvPr/>
        </p:nvSpPr>
        <p:spPr>
          <a:xfrm>
            <a:off x="3172968" y="3154680"/>
            <a:ext cx="265176" cy="29260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0" name="dot 128"/>
          <p:cNvSpPr/>
          <p:nvPr/>
        </p:nvSpPr>
        <p:spPr>
          <a:xfrm>
            <a:off x="3456432" y="141732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dot text 128"/>
          <p:cNvSpPr txBox="1"/>
          <p:nvPr/>
        </p:nvSpPr>
        <p:spPr>
          <a:xfrm>
            <a:off x="3456432" y="1417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114800" y="1371600"/>
            <a:ext cx="1947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Privileged agent solves it</a:t>
            </a:r>
            <a:endParaRPr lang="en-US" sz="1600" dirty="0"/>
          </a:p>
        </p:txBody>
      </p:sp>
      <p:pic>
        <p:nvPicPr>
          <p:cNvPr id="13" name="img129" descr="n_handnow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314575"/>
            <a:ext cx="2606040" cy="19545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56432" y="452628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true poses, no cameras: 0/20 → 17/20</a:t>
            </a:r>
            <a:endParaRPr lang="en-US" sz="1500" dirty="0"/>
          </a:p>
        </p:txBody>
      </p:sp>
      <p:sp>
        <p:nvSpPr>
          <p:cNvPr id="15" name="arrow 130"/>
          <p:cNvSpPr/>
          <p:nvPr/>
        </p:nvSpPr>
        <p:spPr>
          <a:xfrm>
            <a:off x="6080760" y="3154680"/>
            <a:ext cx="265176" cy="29260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6" name="dot 131"/>
          <p:cNvSpPr/>
          <p:nvPr/>
        </p:nvSpPr>
        <p:spPr>
          <a:xfrm>
            <a:off x="6364224" y="141732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7" name="dot text 131"/>
          <p:cNvSpPr txBox="1"/>
          <p:nvPr/>
        </p:nvSpPr>
        <p:spPr>
          <a:xfrm>
            <a:off x="6364224" y="1417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022592" y="1371600"/>
            <a:ext cx="1947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Vision agent solves it</a:t>
            </a:r>
            <a:endParaRPr lang="en-US" sz="1600" dirty="0"/>
          </a:p>
        </p:txBody>
      </p:sp>
      <p:pic>
        <p:nvPicPr>
          <p:cNvPr id="19" name="img132" descr="seededc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314575"/>
            <a:ext cx="2606040" cy="195453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64224" y="452628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sim cameras at least as bad as real</a:t>
            </a:r>
            <a:endParaRPr lang="en-US" sz="1500" dirty="0"/>
          </a:p>
        </p:txBody>
      </p:sp>
      <p:sp>
        <p:nvSpPr>
          <p:cNvPr id="21" name="arrow 133"/>
          <p:cNvSpPr/>
          <p:nvPr/>
        </p:nvSpPr>
        <p:spPr>
          <a:xfrm>
            <a:off x="8988552" y="3154680"/>
            <a:ext cx="265176" cy="29260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22" name="dot 134"/>
          <p:cNvSpPr/>
          <p:nvPr/>
        </p:nvSpPr>
        <p:spPr>
          <a:xfrm>
            <a:off x="9272016" y="141732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3" name="dot text 134"/>
          <p:cNvSpPr txBox="1"/>
          <p:nvPr/>
        </p:nvSpPr>
        <p:spPr>
          <a:xfrm>
            <a:off x="9272016" y="1417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930384" y="1371600"/>
            <a:ext cx="1947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Zero-shot to real</a:t>
            </a:r>
            <a:endParaRPr lang="en-US" sz="1600" dirty="0"/>
          </a:p>
        </p:txBody>
      </p:sp>
      <p:pic>
        <p:nvPicPr>
          <p:cNvPr id="25" name="img135" descr="rollout1c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249424"/>
            <a:ext cx="2606040" cy="20848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72016" y="452628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hopefully, as in run_020911</a:t>
            </a:r>
            <a:endParaRPr lang="en-US" sz="1500" dirty="0"/>
          </a:p>
        </p:txBody>
      </p:sp>
      <p:sp>
        <p:nvSpPr>
          <p:cNvPr id="27" name="next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 for the key box: </a:t>
            </a:r>
            <a:r>
              <a:rPr lang="en-US" sz="1600" dirty="0">
                <a:solidFill>
                  <a:schemeClr val="accent6"/>
                </a:solidFill>
              </a:rPr>
              <a:t>re-run both agents on the fixed physics · 500-seed final · transfer the best graph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new tasks for the same recipe</a:t>
            </a:r>
            <a:endParaRPr lang="en-US" sz="2800" dirty="0"/>
          </a:p>
        </p:txBody>
      </p:sp>
      <p:sp>
        <p:nvSpPr>
          <p:cNvPr id="4" name="card 136"/>
          <p:cNvSpPr/>
          <p:nvPr/>
        </p:nvSpPr>
        <p:spPr>
          <a:xfrm>
            <a:off x="411480" y="1143000"/>
            <a:ext cx="557784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" name="video hairba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21208" y="1383602"/>
            <a:ext cx="3566160" cy="2005965"/>
          </a:xfrm>
          <a:prstGeom prst="rect">
            <a:avLst/>
          </a:prstGeom>
        </p:spPr>
      </p:pic>
      <p:sp>
        <p:nvSpPr>
          <p:cNvPr id="6" name="dot 137"/>
          <p:cNvSpPr/>
          <p:nvPr/>
        </p:nvSpPr>
        <p:spPr>
          <a:xfrm>
            <a:off x="4251960" y="132588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7" name="dot text 137"/>
          <p:cNvSpPr txBox="1"/>
          <p:nvPr/>
        </p:nvSpPr>
        <p:spPr>
          <a:xfrm>
            <a:off x="4251960" y="1325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251960" y="187452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Hairbands into a zip bag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251960" y="2606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 the pouch, put the scrunchies in, zip it</a:t>
            </a:r>
            <a:endParaRPr lang="en-US" sz="1400" dirty="0"/>
          </a:p>
        </p:txBody>
      </p:sp>
      <p:sp>
        <p:nvSpPr>
          <p:cNvPr id="10" name="card 138"/>
          <p:cNvSpPr/>
          <p:nvPr/>
        </p:nvSpPr>
        <p:spPr>
          <a:xfrm>
            <a:off x="6199632" y="1143000"/>
            <a:ext cx="557784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mg139" descr="fil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52728"/>
            <a:ext cx="3023616" cy="2267712"/>
          </a:xfrm>
          <a:prstGeom prst="rect">
            <a:avLst/>
          </a:prstGeom>
        </p:spPr>
      </p:pic>
      <p:sp>
        <p:nvSpPr>
          <p:cNvPr id="12" name="dot 140"/>
          <p:cNvSpPr/>
          <p:nvPr/>
        </p:nvSpPr>
        <p:spPr>
          <a:xfrm>
            <a:off x="10040112" y="132588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3" name="dot text 140"/>
          <p:cNvSpPr txBox="1"/>
          <p:nvPr/>
        </p:nvSpPr>
        <p:spPr>
          <a:xfrm>
            <a:off x="10040112" y="1325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040112" y="187452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Protective film on a screen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0040112" y="2606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lay a thin film on a robot teach pendant</a:t>
            </a:r>
            <a:endParaRPr lang="en-US" sz="1400" dirty="0"/>
          </a:p>
        </p:txBody>
      </p:sp>
      <p:sp>
        <p:nvSpPr>
          <p:cNvPr id="16" name="card 141"/>
          <p:cNvSpPr/>
          <p:nvPr/>
        </p:nvSpPr>
        <p:spPr>
          <a:xfrm>
            <a:off x="411480" y="3794760"/>
            <a:ext cx="557784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video bike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21208" y="4235958"/>
            <a:ext cx="3566160" cy="1604772"/>
          </a:xfrm>
          <a:prstGeom prst="rect">
            <a:avLst/>
          </a:prstGeom>
        </p:spPr>
      </p:pic>
      <p:sp>
        <p:nvSpPr>
          <p:cNvPr id="18" name="dot 142"/>
          <p:cNvSpPr/>
          <p:nvPr/>
        </p:nvSpPr>
        <p:spPr>
          <a:xfrm>
            <a:off x="4251960" y="397764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9" name="dot text 142"/>
          <p:cNvSpPr txBox="1"/>
          <p:nvPr/>
        </p:nvSpPr>
        <p:spPr>
          <a:xfrm>
            <a:off x="425196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251960" y="452628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Bike rotor (TRI)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4251960" y="52578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already in the pipeline: easy 98.2%, tighten 97.6% final</a:t>
            </a:r>
            <a:endParaRPr lang="en-US" sz="1400" dirty="0"/>
          </a:p>
        </p:txBody>
      </p:sp>
      <p:sp>
        <p:nvSpPr>
          <p:cNvPr id="22" name="card 143"/>
          <p:cNvSpPr/>
          <p:nvPr/>
        </p:nvSpPr>
        <p:spPr>
          <a:xfrm>
            <a:off x="6199632" y="3794760"/>
            <a:ext cx="5577840" cy="2487168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dot 144"/>
          <p:cNvSpPr/>
          <p:nvPr/>
        </p:nvSpPr>
        <p:spPr>
          <a:xfrm>
            <a:off x="6382512" y="397764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4" name="dot text 144"/>
          <p:cNvSpPr txBox="1"/>
          <p:nvPr/>
        </p:nvSpPr>
        <p:spPr>
          <a:xfrm>
            <a:off x="6382512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76872" y="3977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Other tasks?</a:t>
            </a:r>
            <a:endParaRPr lang="en-US" sz="1800" dirty="0"/>
          </a:p>
        </p:txBody>
      </p:sp>
      <p:sp>
        <p:nvSpPr>
          <p:cNvPr id="26" name="sponsor text"/>
          <p:cNvSpPr txBox="1"/>
          <p:nvPr/>
        </p:nvSpPr>
        <p:spPr>
          <a:xfrm>
            <a:off x="6428232" y="461772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accent5"/>
                </a:solidFill>
              </a:rPr>
              <a:t>Siemens: </a:t>
            </a:r>
            <a:r>
              <a:rPr lang="en-US" sz="1700" dirty="0">
                <a:solidFill>
                  <a:schemeClr val="bg1"/>
                </a:solidFill>
              </a:rPr>
              <a:t>reel handling · parts organizer (98.8% final on the YAM twin)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ss Graphite">
  <a:themeElements>
    <a:clrScheme name="Brass Graphite">
      <a:dk1>
        <a:srgbClr val="1D2125"/>
      </a:dk1>
      <a:lt1>
        <a:srgbClr val="FFFFFF"/>
      </a:lt1>
      <a:dk2>
        <a:srgbClr val="2B3238"/>
      </a:dk2>
      <a:lt2>
        <a:srgbClr val="EEF1F3"/>
      </a:lt2>
      <a:accent1>
        <a:srgbClr val="C08A2E"/>
      </a:accent1>
      <a:accent2>
        <a:srgbClr val="2F7D6D"/>
      </a:accent2>
      <a:accent3>
        <a:srgbClr val="B5473A"/>
      </a:accent3>
      <a:accent4>
        <a:srgbClr val="5B6770"/>
      </a:accent4>
      <a:accent5>
        <a:srgbClr val="E3B868"/>
      </a:accent5>
      <a:accent6>
        <a:srgbClr val="8FA3AD"/>
      </a:accent6>
      <a:hlink>
        <a:srgbClr val="2F7D6D"/>
      </a:hlink>
      <a:folHlink>
        <a:srgbClr val="5B6770"/>
      </a:folHlink>
    </a:clrScheme>
    <a:fontScheme name="Brass Grap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ss Graphite">
  <a:themeElements>
    <a:clrScheme name="Brass Graphite">
      <a:dk1>
        <a:srgbClr val="1D2125"/>
      </a:dk1>
      <a:lt1>
        <a:srgbClr val="FFFFFF"/>
      </a:lt1>
      <a:dk2>
        <a:srgbClr val="2B3238"/>
      </a:dk2>
      <a:lt2>
        <a:srgbClr val="EEF1F3"/>
      </a:lt2>
      <a:accent1>
        <a:srgbClr val="C08A2E"/>
      </a:accent1>
      <a:accent2>
        <a:srgbClr val="2F7D6D"/>
      </a:accent2>
      <a:accent3>
        <a:srgbClr val="B5473A"/>
      </a:accent3>
      <a:accent4>
        <a:srgbClr val="5B6770"/>
      </a:accent4>
      <a:accent5>
        <a:srgbClr val="E3B868"/>
      </a:accent5>
      <a:accent6>
        <a:srgbClr val="8FA3AD"/>
      </a:accent6>
      <a:hlink>
        <a:srgbClr val="2F7D6D"/>
      </a:hlink>
      <a:folHlink>
        <a:srgbClr val="5B6770"/>
      </a:folHlink>
    </a:clrScheme>
    <a:fontScheme name="Brass Grap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6733</Words>
  <Application>WPS Presentation</Application>
  <PresentationFormat>On-screen Show (16:9)</PresentationFormat>
  <Paragraphs>454</Paragraphs>
  <Slides>29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</vt:lpstr>
      <vt:lpstr>SimSun</vt:lpstr>
      <vt:lpstr>Wingdings</vt:lpstr>
      <vt:lpstr>Cambria</vt:lpstr>
      <vt:lpstr>苹方-简</vt:lpstr>
      <vt:lpstr>Cambria</vt:lpstr>
      <vt:lpstr>宋体-简</vt:lpstr>
      <vt:lpstr>Cambria</vt:lpstr>
      <vt:lpstr>Arial</vt:lpstr>
      <vt:lpstr>Calibri</vt:lpstr>
      <vt:lpstr>Helvetica Neue</vt:lpstr>
      <vt:lpstr>Microsoft YaHei</vt:lpstr>
      <vt:lpstr>汉仪旗黑</vt:lpstr>
      <vt:lpstr>Arial Unicode MS</vt:lpstr>
      <vt:lpstr>Brass Graphite</vt:lpstr>
      <vt:lpstr>Opening the key box: sim to real</vt:lpstr>
      <vt:lpstr>The pipeline solves many tasks. Can it solve the hardest one?</vt:lpstr>
      <vt:lpstr>The task: grasp the key, unlock, press the tab, the lid springs open</vt:lpstr>
      <vt:lpstr>Robot doing the task</vt:lpstr>
      <vt:lpstr>Why this task is hard for YAM</vt:lpstr>
      <vt:lpstr>Where we started: success in sim, no progress on the real robot</vt:lpstr>
      <vt:lpstr>01  Motion</vt:lpstr>
      <vt:lpstr>Reach: the old setup could not reach; now the right arm does it all</vt:lpstr>
      <vt:lpstr>The offset came from gravity, friction and gains</vt:lpstr>
      <vt:lpstr>The sim now moves like the real arm</vt:lpstr>
      <vt:lpstr>02  Perception</vt:lpstr>
      <vt:lpstr>Depth chosen: ZED SDK neural depth, flat, square and fast</vt:lpstr>
      <vt:lpstr>Shiny and dark surfaces read badly on the real cameras</vt:lpstr>
      <vt:lpstr>Sim depth: a camera at least as bad as the real one</vt:lpstr>
      <vt:lpstr>Sim RGB: every episode gets a new look</vt:lpstr>
      <vt:lpstr>Robot-fit calibration beat the checkerboard</vt:lpstr>
      <vt:lpstr>Aim from the right wrist; rebuild the lock face from the real one</vt:lpstr>
      <vt:lpstr>03  Physics</vt:lpstr>
      <vt:lpstr>1 · The key fell over → now it stands on its head</vt:lpstr>
      <vt:lpstr>2 · The key slipped in the fingers → held firm now</vt:lpstr>
      <vt:lpstr>3 · Insertion friction: a little friction when the key is not aligned</vt:lpstr>
      <vt:lpstr>4 · The box was shoved off its riser and flipped → held now</vt:lpstr>
      <vt:lpstr>5 · Pressing the tab: a recessed tab with a stiff point</vt:lpstr>
      <vt:lpstr>What helps ground the physics?</vt:lpstr>
      <vt:lpstr>04  Results</vt:lpstr>
      <vt:lpstr>Robot doing the task</vt:lpstr>
      <vt:lpstr>Self-learning vision agents open the box in sim</vt:lpstr>
      <vt:lpstr>A general recipe for a new task</vt:lpstr>
      <vt:lpstr>Next: new tasks for the same recipe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box: sim to real</dc:title>
  <dc:creator>Yolanda Zhu</dc:creator>
  <dc:subject>PptxGenJS Presentation</dc:subject>
  <cp:lastModifiedBy>WPS_1769148646</cp:lastModifiedBy>
  <cp:revision>15</cp:revision>
  <dcterms:created xsi:type="dcterms:W3CDTF">2026-10-27T01:20:52Z</dcterms:created>
  <dcterms:modified xsi:type="dcterms:W3CDTF">2026-10-27T01:20:52Z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